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428"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IN"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IN"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IN"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strike="noStrike" spc="-1">
                <a:solidFill>
                  <a:srgbClr val="000000"/>
                </a:solidFill>
                <a:latin typeface="Times New Roman"/>
              </a:defRPr>
            </a:lvl1pPr>
          </a:lstStyle>
          <a:p>
            <a:pPr indent="0" algn="r">
              <a:buNone/>
            </a:pPr>
            <a:r>
              <a:rPr lang="en-IN"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strike="noStrike" spc="-1">
                <a:solidFill>
                  <a:srgbClr val="000000"/>
                </a:solidFill>
                <a:latin typeface="Times New Roman"/>
              </a:defRPr>
            </a:lvl1pPr>
          </a:lstStyle>
          <a:p>
            <a:pPr indent="0" algn="r">
              <a:buNone/>
            </a:pPr>
            <a:fld id="{48CC2096-2681-40F1-A1D1-DD81E036822F}" type="slidenum">
              <a:rPr lang="en-IN" sz="1400" b="0" strike="noStrike" spc="-1">
                <a:solidFill>
                  <a:srgbClr val="000000"/>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noRot="1" noChangeAspect="1"/>
          </p:cNvSpPr>
          <p:nvPr>
            <p:ph type="sldImg"/>
          </p:nvPr>
        </p:nvSpPr>
        <p:spPr>
          <a:xfrm>
            <a:off x="0" y="0"/>
            <a:ext cx="0" cy="0"/>
          </a:xfrm>
          <a:prstGeom prst="rect">
            <a:avLst/>
          </a:prstGeom>
          <a:ln w="0">
            <a:noFill/>
          </a:ln>
        </p:spPr>
      </p:sp>
      <p:sp>
        <p:nvSpPr>
          <p:cNvPr id="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77"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3C6457E-B321-4B6D-B0D7-C81D10A1C75E}" type="slidenum">
              <a:rPr lang="en-US" sz="1800" b="0" strike="noStrike" spc="-1">
                <a:solidFill>
                  <a:schemeClr val="dk1"/>
                </a:solidFill>
                <a:latin typeface="+mn-lt"/>
                <a:ea typeface="+mn-ea"/>
              </a:rPr>
              <a:t>2</a:t>
            </a:fld>
            <a:endParaRPr lang="en-IN" sz="18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noRot="1" noChangeAspect="1"/>
          </p:cNvSpPr>
          <p:nvPr>
            <p:ph type="sldImg"/>
          </p:nvPr>
        </p:nvSpPr>
        <p:spPr>
          <a:xfrm>
            <a:off x="0" y="0"/>
            <a:ext cx="0" cy="0"/>
          </a:xfrm>
          <a:prstGeom prst="rect">
            <a:avLst/>
          </a:prstGeom>
          <a:ln w="0">
            <a:noFill/>
          </a:ln>
        </p:spPr>
      </p:sp>
      <p:sp>
        <p:nvSpPr>
          <p:cNvPr id="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80"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B61CD2B-B2B6-4F0C-80C3-F0CDDDA6A839}" type="slidenum">
              <a:rPr lang="en-US" sz="1800" b="0" strike="noStrike" spc="-1">
                <a:solidFill>
                  <a:schemeClr val="dk1"/>
                </a:solidFill>
                <a:latin typeface="+mn-lt"/>
                <a:ea typeface="+mn-ea"/>
              </a:rPr>
              <a:t>4</a:t>
            </a:fld>
            <a:endParaRPr lang="en-IN" sz="18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laceHolder 1"/>
          <p:cNvSpPr>
            <a:spLocks noGrp="1" noRot="1" noChangeAspect="1"/>
          </p:cNvSpPr>
          <p:nvPr>
            <p:ph type="sldImg"/>
          </p:nvPr>
        </p:nvSpPr>
        <p:spPr>
          <a:xfrm>
            <a:off x="0" y="0"/>
            <a:ext cx="0" cy="0"/>
          </a:xfrm>
          <a:prstGeom prst="rect">
            <a:avLst/>
          </a:prstGeom>
          <a:ln w="0">
            <a:noFill/>
          </a:ln>
        </p:spPr>
      </p:sp>
      <p:sp>
        <p:nvSpPr>
          <p:cNvPr id="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83"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AAF9AB5D-352B-42C0-BC0D-FEB675B40427}" type="slidenum">
              <a:rPr lang="en-US" sz="1800" b="0" strike="noStrike" spc="-1">
                <a:solidFill>
                  <a:schemeClr val="dk1"/>
                </a:solidFill>
                <a:latin typeface="+mn-lt"/>
                <a:ea typeface="+mn-ea"/>
              </a:rPr>
              <a:t>5</a:t>
            </a:fld>
            <a:endParaRPr lang="en-IN" sz="18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0" y="0"/>
            <a:ext cx="0" cy="0"/>
          </a:xfrm>
          <a:prstGeom prst="rect">
            <a:avLst/>
          </a:prstGeom>
          <a:ln w="0">
            <a:noFill/>
          </a:ln>
        </p:spPr>
      </p:sp>
      <p:sp>
        <p:nvSpPr>
          <p:cNvPr id="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86"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E7D433A-AAFC-4719-AB8F-3A555FED990A}" type="slidenum">
              <a:rPr lang="en-US" sz="1800" b="0" strike="noStrike" spc="-1">
                <a:solidFill>
                  <a:schemeClr val="dk1"/>
                </a:solidFill>
                <a:latin typeface="+mn-lt"/>
                <a:ea typeface="+mn-ea"/>
              </a:rPr>
              <a:t>6</a:t>
            </a:fld>
            <a:endParaRPr lang="en-IN" sz="18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noRot="1" noChangeAspect="1"/>
          </p:cNvSpPr>
          <p:nvPr>
            <p:ph type="sldImg"/>
          </p:nvPr>
        </p:nvSpPr>
        <p:spPr>
          <a:xfrm>
            <a:off x="0" y="0"/>
            <a:ext cx="0" cy="0"/>
          </a:xfrm>
          <a:prstGeom prst="rect">
            <a:avLst/>
          </a:prstGeom>
          <a:ln w="0">
            <a:noFill/>
          </a:ln>
        </p:spPr>
      </p:sp>
      <p:sp>
        <p:nvSpPr>
          <p:cNvPr id="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89"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377CAED7-F15B-40FF-9FBB-B2B4CD5E2F75}" type="slidenum">
              <a:rPr lang="en-US" sz="1800" b="0" strike="noStrike" spc="-1">
                <a:solidFill>
                  <a:schemeClr val="dk1"/>
                </a:solidFill>
                <a:latin typeface="+mn-lt"/>
                <a:ea typeface="+mn-ea"/>
              </a:rPr>
              <a:t>7</a:t>
            </a:fld>
            <a:endParaRPr lang="en-IN" sz="18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noRot="1" noChangeAspect="1"/>
          </p:cNvSpPr>
          <p:nvPr>
            <p:ph type="sldImg"/>
          </p:nvPr>
        </p:nvSpPr>
        <p:spPr>
          <a:xfrm>
            <a:off x="0" y="0"/>
            <a:ext cx="0" cy="0"/>
          </a:xfrm>
          <a:prstGeom prst="rect">
            <a:avLst/>
          </a:prstGeom>
          <a:ln w="0">
            <a:noFill/>
          </a:ln>
        </p:spPr>
      </p:sp>
      <p:sp>
        <p:nvSpPr>
          <p:cNvPr id="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92"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DDB999E0-F3B6-4469-B5B3-B6681799024E}" type="slidenum">
              <a:rPr lang="en-US" sz="1800" b="0" strike="noStrike" spc="-1">
                <a:solidFill>
                  <a:schemeClr val="dk1"/>
                </a:solidFill>
                <a:latin typeface="+mn-lt"/>
                <a:ea typeface="+mn-ea"/>
              </a:rPr>
              <a:t>8</a:t>
            </a:fld>
            <a:endParaRPr lang="en-IN" sz="18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noRot="1" noChangeAspect="1"/>
          </p:cNvSpPr>
          <p:nvPr>
            <p:ph type="sldImg"/>
          </p:nvPr>
        </p:nvSpPr>
        <p:spPr>
          <a:xfrm>
            <a:off x="0" y="0"/>
            <a:ext cx="0" cy="0"/>
          </a:xfrm>
          <a:prstGeom prst="rect">
            <a:avLst/>
          </a:prstGeom>
          <a:ln w="0">
            <a:noFill/>
          </a:ln>
        </p:spPr>
      </p:sp>
      <p:sp>
        <p:nvSpPr>
          <p:cNvPr id="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95"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1D2F5522-931B-4FC6-B268-D0E2C2A813CE}" type="slidenum">
              <a:rPr lang="en-US" sz="1800" b="0" strike="noStrike" spc="-1">
                <a:solidFill>
                  <a:schemeClr val="dk1"/>
                </a:solidFill>
                <a:latin typeface="+mn-lt"/>
                <a:ea typeface="+mn-ea"/>
              </a:rPr>
              <a:t>9</a:t>
            </a:fld>
            <a:endParaRPr lang="en-IN" sz="18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noRot="1" noChangeAspect="1"/>
          </p:cNvSpPr>
          <p:nvPr>
            <p:ph type="sldImg"/>
          </p:nvPr>
        </p:nvSpPr>
        <p:spPr>
          <a:xfrm>
            <a:off x="0" y="0"/>
            <a:ext cx="0" cy="0"/>
          </a:xfrm>
          <a:prstGeom prst="rect">
            <a:avLst/>
          </a:prstGeom>
          <a:ln w="0">
            <a:noFill/>
          </a:ln>
        </p:spPr>
      </p:sp>
      <p:sp>
        <p:nvSpPr>
          <p:cNvPr id="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98"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40C7A511-20D9-4FB4-BBD8-DA82463530BC}" type="slidenum">
              <a:rPr lang="en-US" sz="1800" b="0" strike="noStrike" spc="-1">
                <a:solidFill>
                  <a:schemeClr val="dk1"/>
                </a:solidFill>
                <a:latin typeface="+mn-lt"/>
                <a:ea typeface="+mn-ea"/>
              </a:rPr>
              <a:t>10</a:t>
            </a:fld>
            <a:endParaRPr lang="en-IN" sz="18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noRot="1" noChangeAspect="1"/>
          </p:cNvSpPr>
          <p:nvPr>
            <p:ph type="sldImg"/>
          </p:nvPr>
        </p:nvSpPr>
        <p:spPr>
          <a:xfrm>
            <a:off x="0" y="0"/>
            <a:ext cx="0" cy="0"/>
          </a:xfrm>
          <a:prstGeom prst="rect">
            <a:avLst/>
          </a:prstGeom>
          <a:ln w="0">
            <a:noFill/>
          </a:ln>
        </p:spPr>
      </p:sp>
      <p:sp>
        <p:nvSpPr>
          <p:cNvPr id="1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101"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9C17794F-77DD-4B45-B0BE-03A36537518A}" type="slidenum">
              <a:rPr lang="en-US" sz="1800" b="0" strike="noStrike" spc="-1">
                <a:solidFill>
                  <a:schemeClr val="dk1"/>
                </a:solidFill>
                <a:latin typeface="+mn-lt"/>
                <a:ea typeface="+mn-ea"/>
              </a:rPr>
              <a:t>11</a:t>
            </a:fld>
            <a:endParaRPr lang="en-IN" sz="18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noRot="1" noChangeAspect="1"/>
          </p:cNvSpPr>
          <p:nvPr>
            <p:ph type="sldImg"/>
          </p:nvPr>
        </p:nvSpPr>
        <p:spPr>
          <a:xfrm>
            <a:off x="0" y="0"/>
            <a:ext cx="0" cy="0"/>
          </a:xfrm>
          <a:prstGeom prst="rect">
            <a:avLst/>
          </a:prstGeom>
          <a:ln w="0">
            <a:noFill/>
          </a:ln>
        </p:spPr>
      </p:sp>
      <p:sp>
        <p:nvSpPr>
          <p:cNvPr id="1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104"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EED066F0-CD60-49F5-B4D1-55E0B376E937}" type="slidenum">
              <a:rPr lang="en-US" sz="1800" b="0" strike="noStrike" spc="-1">
                <a:solidFill>
                  <a:schemeClr val="dk1"/>
                </a:solidFill>
                <a:latin typeface="+mn-lt"/>
                <a:ea typeface="+mn-ea"/>
              </a:rPr>
              <a:t>12</a:t>
            </a:fld>
            <a:endParaRPr lang="en-IN" sz="18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noRot="1" noChangeAspect="1"/>
          </p:cNvSpPr>
          <p:nvPr>
            <p:ph type="sldImg"/>
          </p:nvPr>
        </p:nvSpPr>
        <p:spPr>
          <a:xfrm>
            <a:off x="0" y="0"/>
            <a:ext cx="0" cy="0"/>
          </a:xfrm>
          <a:prstGeom prst="rect">
            <a:avLst/>
          </a:prstGeom>
          <a:ln w="0">
            <a:noFill/>
          </a:ln>
        </p:spPr>
      </p:sp>
      <p:sp>
        <p:nvSpPr>
          <p:cNvPr id="1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marL="216000" indent="-216000">
              <a:buNone/>
            </a:pPr>
            <a:endParaRPr lang="en-IN" sz="1800" b="0" strike="noStrike" spc="-1">
              <a:solidFill>
                <a:srgbClr val="000000"/>
              </a:solidFill>
              <a:latin typeface="Arial"/>
            </a:endParaRPr>
          </a:p>
        </p:txBody>
      </p:sp>
      <p:sp>
        <p:nvSpPr>
          <p:cNvPr id="107"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defTabSz="914400">
              <a:lnSpc>
                <a:spcPct val="100000"/>
              </a:lnSpc>
              <a:buNone/>
              <a:defRPr lang="en-US" sz="1800" b="0" strike="noStrike" spc="-1">
                <a:solidFill>
                  <a:schemeClr val="dk1"/>
                </a:solidFill>
                <a:latin typeface="+mn-lt"/>
                <a:ea typeface="+mn-ea"/>
              </a:defRPr>
            </a:lvl1pPr>
          </a:lstStyle>
          <a:p>
            <a:pPr indent="0" defTabSz="914400">
              <a:lnSpc>
                <a:spcPct val="100000"/>
              </a:lnSpc>
              <a:buNone/>
            </a:pPr>
            <a:fld id="{8819D678-D8E2-4BD6-965B-3F90BDBEB7B0}" type="slidenum">
              <a:rPr lang="en-US" sz="1800" b="0" strike="noStrike" spc="-1">
                <a:solidFill>
                  <a:schemeClr val="dk1"/>
                </a:solidFill>
                <a:latin typeface="+mn-lt"/>
                <a:ea typeface="+mn-ea"/>
              </a:rPr>
              <a:t>13</a:t>
            </a:fld>
            <a:endParaRPr lang="en-IN" sz="18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IN"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IN"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IN"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IN"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IN"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IN"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IN"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genai.owasp.org/llmrisk/llm01-prompt-injection/" TargetMode="External"/><Relationship Id="rId7" Type="http://schemas.openxmlformats.org/officeDocument/2006/relationships/hyperlink" Target="https://arxiv.org/abs/2303.0877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arxiv.org/abs/2503.18666" TargetMode="External"/><Relationship Id="rId5" Type="http://schemas.openxmlformats.org/officeDocument/2006/relationships/hyperlink" Target="https://arxiv.org/abs/2504.11703" TargetMode="External"/><Relationship Id="rId4" Type="http://schemas.openxmlformats.org/officeDocument/2006/relationships/hyperlink" Target="https://arxiv.org/abs/2504.11358"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p:nvPr/>
        </p:nvSpPr>
        <p:spPr>
          <a:xfrm>
            <a:off x="816480" y="201600"/>
            <a:ext cx="7772040" cy="153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ctr" defTabSz="914400">
              <a:lnSpc>
                <a:spcPct val="100000"/>
              </a:lnSpc>
              <a:spcBef>
                <a:spcPts val="1199"/>
              </a:spcBef>
            </a:pPr>
            <a:r>
              <a:rPr lang="en-US" sz="2400" b="1" strike="noStrike" spc="-1">
                <a:solidFill>
                  <a:schemeClr val="dk1"/>
                </a:solidFill>
                <a:latin typeface="Times New Roman"/>
              </a:rPr>
              <a:t>Project (BCS-753) Presentation </a:t>
            </a:r>
            <a:br>
              <a:rPr sz="2400"/>
            </a:br>
            <a:r>
              <a:rPr lang="en-US" sz="2400" b="1" strike="noStrike" spc="-1">
                <a:solidFill>
                  <a:schemeClr val="dk1"/>
                </a:solidFill>
                <a:latin typeface="Times New Roman"/>
              </a:rPr>
              <a:t>on</a:t>
            </a:r>
            <a:br>
              <a:rPr sz="2400"/>
            </a:br>
            <a:r>
              <a:rPr lang="en-US" sz="2400" b="1" strike="noStrike" spc="-1">
                <a:solidFill>
                  <a:srgbClr val="000000"/>
                </a:solidFill>
                <a:latin typeface="Times New Roman"/>
                <a:ea typeface="Times New Roman"/>
              </a:rPr>
              <a:t>AgentSheild AI</a:t>
            </a:r>
            <a:endParaRPr lang="en-IN" sz="2400" b="0" strike="noStrike" spc="-1">
              <a:solidFill>
                <a:srgbClr val="000000"/>
              </a:solidFill>
              <a:latin typeface="Arial"/>
            </a:endParaRPr>
          </a:p>
          <a:p>
            <a:pPr algn="ctr" defTabSz="914400">
              <a:lnSpc>
                <a:spcPct val="100000"/>
              </a:lnSpc>
            </a:pPr>
            <a:r>
              <a:rPr lang="en-IN" sz="1700" b="1" strike="noStrike" spc="-1">
                <a:solidFill>
                  <a:schemeClr val="dk1"/>
                </a:solidFill>
                <a:latin typeface="Times New Roman"/>
                <a:ea typeface="Times New Roman"/>
              </a:rPr>
              <a:t>A Real-Time Security Framework for Autonomous AI Agents</a:t>
            </a:r>
            <a:endParaRPr lang="en-IN" sz="1700" b="0" strike="noStrike" spc="-1">
              <a:solidFill>
                <a:srgbClr val="000000"/>
              </a:solidFill>
              <a:latin typeface="Arial"/>
            </a:endParaRPr>
          </a:p>
          <a:p>
            <a:pPr algn="ctr" defTabSz="914400">
              <a:lnSpc>
                <a:spcPct val="100000"/>
              </a:lnSpc>
              <a:spcBef>
                <a:spcPts val="1199"/>
              </a:spcBef>
            </a:pPr>
            <a:endParaRPr lang="en-IN" sz="2400" b="0" strike="noStrike" spc="-1">
              <a:solidFill>
                <a:srgbClr val="000000"/>
              </a:solidFill>
              <a:latin typeface="Arial"/>
            </a:endParaRPr>
          </a:p>
          <a:p>
            <a:pPr algn="ctr" defTabSz="914400">
              <a:lnSpc>
                <a:spcPct val="100000"/>
              </a:lnSpc>
              <a:spcBef>
                <a:spcPts val="1199"/>
              </a:spcBef>
            </a:pPr>
            <a:endParaRPr lang="en-IN" sz="2400" b="0" strike="noStrike" spc="-1">
              <a:solidFill>
                <a:srgbClr val="000000"/>
              </a:solidFill>
              <a:latin typeface="Arial"/>
            </a:endParaRPr>
          </a:p>
        </p:txBody>
      </p:sp>
      <p:sp>
        <p:nvSpPr>
          <p:cNvPr id="9" name="Subtitle 2"/>
          <p:cNvSpPr/>
          <p:nvPr/>
        </p:nvSpPr>
        <p:spPr>
          <a:xfrm>
            <a:off x="700920" y="3535920"/>
            <a:ext cx="3819240" cy="190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defTabSz="914400">
              <a:lnSpc>
                <a:spcPct val="100000"/>
              </a:lnSpc>
              <a:spcBef>
                <a:spcPts val="400"/>
              </a:spcBef>
              <a:tabLst>
                <a:tab pos="0" algn="l"/>
              </a:tabLst>
            </a:pPr>
            <a:r>
              <a:rPr lang="en-US" sz="2000" b="1" strike="noStrike" spc="-1">
                <a:solidFill>
                  <a:schemeClr val="dk1"/>
                </a:solidFill>
                <a:latin typeface="Times New Roman"/>
                <a:ea typeface="Times New Roman"/>
              </a:rPr>
              <a:t>Supervisor:                                            </a:t>
            </a:r>
            <a:r>
              <a:rPr lang="en-US" sz="1800" b="0" strike="noStrike" spc="-1">
                <a:solidFill>
                  <a:schemeClr val="dk1"/>
                </a:solidFill>
                <a:latin typeface="Times New Roman"/>
                <a:ea typeface="Times New Roman"/>
              </a:rPr>
              <a:t>Ms. Meenu Sharma	</a:t>
            </a:r>
            <a:endParaRPr lang="en-IN" sz="1800" b="0" strike="noStrike" spc="-1">
              <a:solidFill>
                <a:srgbClr val="000000"/>
              </a:solidFill>
              <a:latin typeface="Arial"/>
            </a:endParaRPr>
          </a:p>
          <a:p>
            <a:pPr defTabSz="914400">
              <a:lnSpc>
                <a:spcPct val="100000"/>
              </a:lnSpc>
              <a:spcBef>
                <a:spcPts val="360"/>
              </a:spcBef>
              <a:tabLst>
                <a:tab pos="0" algn="l"/>
              </a:tabLst>
            </a:pPr>
            <a:r>
              <a:rPr lang="en-US" sz="1800" b="0" strike="noStrike" spc="-1">
                <a:solidFill>
                  <a:schemeClr val="dk1"/>
                </a:solidFill>
                <a:latin typeface="Times New Roman"/>
                <a:ea typeface="Times New Roman"/>
              </a:rPr>
              <a:t>Assistant Professor</a:t>
            </a:r>
            <a:endParaRPr lang="en-IN" sz="1800" b="0" strike="noStrike" spc="-1">
              <a:solidFill>
                <a:srgbClr val="000000"/>
              </a:solidFill>
              <a:latin typeface="Arial"/>
            </a:endParaRPr>
          </a:p>
          <a:p>
            <a:pPr defTabSz="914400">
              <a:lnSpc>
                <a:spcPct val="100000"/>
              </a:lnSpc>
              <a:spcBef>
                <a:spcPts val="360"/>
              </a:spcBef>
              <a:tabLst>
                <a:tab pos="0" algn="l"/>
              </a:tabLst>
            </a:pPr>
            <a:r>
              <a:rPr lang="en-US" sz="1800" b="0" strike="noStrike" spc="-1">
                <a:solidFill>
                  <a:schemeClr val="dk1"/>
                </a:solidFill>
                <a:latin typeface="Times New Roman"/>
                <a:ea typeface="Times New Roman"/>
              </a:rPr>
              <a:t>Department of CSE</a:t>
            </a:r>
            <a:endParaRPr lang="en-IN" sz="1800" b="0" strike="noStrike" spc="-1">
              <a:solidFill>
                <a:srgbClr val="000000"/>
              </a:solidFill>
              <a:latin typeface="Arial"/>
            </a:endParaRPr>
          </a:p>
          <a:p>
            <a:pPr defTabSz="914400">
              <a:lnSpc>
                <a:spcPct val="100000"/>
              </a:lnSpc>
              <a:spcBef>
                <a:spcPts val="400"/>
              </a:spcBef>
              <a:tabLst>
                <a:tab pos="0" algn="l"/>
              </a:tabLst>
            </a:pPr>
            <a:r>
              <a:rPr lang="en-US" sz="2000" b="0" strike="noStrike" spc="-1">
                <a:solidFill>
                  <a:schemeClr val="dk1"/>
                </a:solidFill>
                <a:latin typeface="Times New Roman"/>
                <a:ea typeface="Times New Roman"/>
              </a:rPr>
              <a:t>	</a:t>
            </a:r>
            <a:endParaRPr lang="en-IN" sz="2000" b="0" strike="noStrike" spc="-1">
              <a:solidFill>
                <a:srgbClr val="000000"/>
              </a:solidFill>
              <a:latin typeface="Arial"/>
            </a:endParaRPr>
          </a:p>
        </p:txBody>
      </p:sp>
      <p:pic>
        <p:nvPicPr>
          <p:cNvPr id="10" name="Picture 3"/>
          <p:cNvPicPr/>
          <p:nvPr/>
        </p:nvPicPr>
        <p:blipFill>
          <a:blip r:embed="rId2"/>
          <a:stretch/>
        </p:blipFill>
        <p:spPr>
          <a:xfrm>
            <a:off x="3944520" y="1739160"/>
            <a:ext cx="1254240" cy="1218960"/>
          </a:xfrm>
          <a:prstGeom prst="rect">
            <a:avLst/>
          </a:prstGeom>
          <a:ln w="0">
            <a:noFill/>
          </a:ln>
        </p:spPr>
      </p:pic>
      <p:sp>
        <p:nvSpPr>
          <p:cNvPr id="11" name="TextBox 4"/>
          <p:cNvSpPr/>
          <p:nvPr/>
        </p:nvSpPr>
        <p:spPr>
          <a:xfrm>
            <a:off x="2478600" y="2970720"/>
            <a:ext cx="4186080" cy="39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strike="noStrike" spc="-1">
                <a:solidFill>
                  <a:schemeClr val="dk1"/>
                </a:solidFill>
                <a:latin typeface="Times New Roman"/>
                <a:ea typeface="Times New Roman"/>
              </a:rPr>
              <a:t>Group Number-26MPA06</a:t>
            </a:r>
            <a:endParaRPr lang="en-IN" sz="2000" b="0" strike="noStrike" spc="-1">
              <a:solidFill>
                <a:srgbClr val="000000"/>
              </a:solidFill>
              <a:latin typeface="Arial"/>
            </a:endParaRPr>
          </a:p>
        </p:txBody>
      </p:sp>
      <p:sp>
        <p:nvSpPr>
          <p:cNvPr id="12" name="TextBox 5"/>
          <p:cNvSpPr/>
          <p:nvPr/>
        </p:nvSpPr>
        <p:spPr>
          <a:xfrm>
            <a:off x="1277640" y="5450400"/>
            <a:ext cx="6588720" cy="130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tabLst>
                <a:tab pos="0" algn="l"/>
              </a:tabLst>
            </a:pPr>
            <a:r>
              <a:rPr lang="en-US" sz="2000" b="1" strike="noStrike" spc="-1">
                <a:solidFill>
                  <a:schemeClr val="dk1"/>
                </a:solidFill>
                <a:latin typeface="Times New Roman"/>
              </a:rPr>
              <a:t>Department  of Computer Science &amp; Engineering</a:t>
            </a:r>
            <a:endParaRPr lang="en-IN" sz="2000" b="0" strike="noStrike" spc="-1">
              <a:solidFill>
                <a:srgbClr val="000000"/>
              </a:solidFill>
              <a:latin typeface="Arial"/>
            </a:endParaRPr>
          </a:p>
          <a:p>
            <a:pPr algn="ctr" defTabSz="914400">
              <a:lnSpc>
                <a:spcPct val="100000"/>
              </a:lnSpc>
              <a:tabLst>
                <a:tab pos="0" algn="l"/>
              </a:tabLst>
            </a:pPr>
            <a:r>
              <a:rPr lang="en-US" sz="2000" b="0" strike="noStrike" spc="-1">
                <a:solidFill>
                  <a:schemeClr val="dk1"/>
                </a:solidFill>
                <a:latin typeface="Times New Roman"/>
                <a:ea typeface="Times New Roman"/>
              </a:rPr>
              <a:t>IMS Engineering College, Ghaziabad</a:t>
            </a:r>
            <a:endParaRPr lang="en-IN" sz="2000" b="0" strike="noStrike" spc="-1">
              <a:solidFill>
                <a:srgbClr val="000000"/>
              </a:solidFill>
              <a:latin typeface="Arial"/>
            </a:endParaRPr>
          </a:p>
          <a:p>
            <a:pPr algn="ctr" defTabSz="914400">
              <a:lnSpc>
                <a:spcPct val="100000"/>
              </a:lnSpc>
              <a:tabLst>
                <a:tab pos="0" algn="l"/>
              </a:tabLst>
            </a:pPr>
            <a:r>
              <a:rPr lang="en-US" sz="2000" b="0" strike="noStrike" spc="-1">
                <a:solidFill>
                  <a:schemeClr val="dk1"/>
                </a:solidFill>
                <a:latin typeface="Times New Roman"/>
                <a:ea typeface="Times New Roman"/>
              </a:rPr>
              <a:t>Dr. A.P.J Abdul Kalam Technical University, Lucknow</a:t>
            </a:r>
            <a:endParaRPr lang="en-IN" sz="2000" b="0" strike="noStrike" spc="-1">
              <a:solidFill>
                <a:srgbClr val="000000"/>
              </a:solidFill>
              <a:latin typeface="Arial"/>
            </a:endParaRPr>
          </a:p>
          <a:p>
            <a:pPr algn="ctr" defTabSz="914400">
              <a:lnSpc>
                <a:spcPct val="100000"/>
              </a:lnSpc>
              <a:tabLst>
                <a:tab pos="0" algn="l"/>
              </a:tabLst>
            </a:pPr>
            <a:r>
              <a:rPr lang="en-US" sz="2000" b="0" strike="noStrike" spc="-1">
                <a:solidFill>
                  <a:schemeClr val="dk1"/>
                </a:solidFill>
                <a:latin typeface="Times New Roman"/>
                <a:ea typeface="Times New Roman"/>
              </a:rPr>
              <a:t>(2026-27)</a:t>
            </a:r>
            <a:endParaRPr lang="en-IN" sz="2000" b="0" strike="noStrike" spc="-1">
              <a:solidFill>
                <a:srgbClr val="000000"/>
              </a:solidFill>
              <a:latin typeface="Arial"/>
            </a:endParaRPr>
          </a:p>
        </p:txBody>
      </p:sp>
      <p:sp>
        <p:nvSpPr>
          <p:cNvPr id="13" name="Subtitle 2"/>
          <p:cNvSpPr/>
          <p:nvPr/>
        </p:nvSpPr>
        <p:spPr>
          <a:xfrm>
            <a:off x="4623480" y="3535920"/>
            <a:ext cx="4083120" cy="1908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p>
            <a:pPr algn="r" defTabSz="914400">
              <a:lnSpc>
                <a:spcPct val="100000"/>
              </a:lnSpc>
              <a:spcBef>
                <a:spcPts val="400"/>
              </a:spcBef>
              <a:tabLst>
                <a:tab pos="0" algn="l"/>
              </a:tabLst>
            </a:pPr>
            <a:r>
              <a:rPr lang="en-US" sz="2000" b="1" strike="noStrike" spc="-1">
                <a:solidFill>
                  <a:schemeClr val="dk1"/>
                </a:solidFill>
                <a:latin typeface="Times New Roman"/>
                <a:ea typeface="Times New Roman"/>
              </a:rPr>
              <a:t>Submitted by:</a:t>
            </a:r>
            <a:endParaRPr lang="en-IN" sz="2000" b="0" strike="noStrike" spc="-1">
              <a:solidFill>
                <a:srgbClr val="000000"/>
              </a:solidFill>
              <a:latin typeface="Arial"/>
            </a:endParaRPr>
          </a:p>
          <a:p>
            <a:pPr algn="r" defTabSz="914400">
              <a:lnSpc>
                <a:spcPct val="100000"/>
              </a:lnSpc>
              <a:spcBef>
                <a:spcPts val="360"/>
              </a:spcBef>
              <a:tabLst>
                <a:tab pos="0" algn="l"/>
              </a:tabLst>
            </a:pPr>
            <a:r>
              <a:rPr lang="en-US" sz="1800" b="0" strike="noStrike" spc="-1">
                <a:solidFill>
                  <a:srgbClr val="222222"/>
                </a:solidFill>
                <a:latin typeface="Times New Roman"/>
                <a:ea typeface="Times New Roman"/>
              </a:rPr>
              <a:t>Abhay Chauhan (2301430100004)</a:t>
            </a:r>
            <a:endParaRPr lang="en-IN" sz="1800" b="0" strike="noStrike" spc="-1">
              <a:solidFill>
                <a:srgbClr val="000000"/>
              </a:solidFill>
              <a:latin typeface="Arial"/>
            </a:endParaRPr>
          </a:p>
          <a:p>
            <a:pPr algn="r" defTabSz="914400">
              <a:lnSpc>
                <a:spcPct val="100000"/>
              </a:lnSpc>
              <a:spcBef>
                <a:spcPts val="360"/>
              </a:spcBef>
              <a:tabLst>
                <a:tab pos="0" algn="l"/>
              </a:tabLst>
            </a:pPr>
            <a:r>
              <a:rPr lang="en-US" sz="1800" b="0" strike="noStrike" spc="-1">
                <a:solidFill>
                  <a:srgbClr val="222222"/>
                </a:solidFill>
                <a:latin typeface="Times New Roman"/>
                <a:ea typeface="Times New Roman"/>
              </a:rPr>
              <a:t>Aditya Sharma (2301430100015)</a:t>
            </a:r>
            <a:endParaRPr lang="en-IN" sz="1800" b="0" strike="noStrike" spc="-1">
              <a:solidFill>
                <a:srgbClr val="000000"/>
              </a:solidFill>
              <a:latin typeface="Arial"/>
            </a:endParaRPr>
          </a:p>
          <a:p>
            <a:pPr algn="r" defTabSz="914400">
              <a:lnSpc>
                <a:spcPct val="100000"/>
              </a:lnSpc>
              <a:spcBef>
                <a:spcPts val="360"/>
              </a:spcBef>
              <a:tabLst>
                <a:tab pos="0" algn="l"/>
              </a:tabLst>
            </a:pPr>
            <a:r>
              <a:rPr lang="en-US" sz="1800" b="0" strike="noStrike" spc="-1">
                <a:solidFill>
                  <a:srgbClr val="222222"/>
                </a:solidFill>
                <a:latin typeface="Times New Roman"/>
                <a:ea typeface="Times New Roman"/>
              </a:rPr>
              <a:t>Avnish Kumar (2301430100065)</a:t>
            </a:r>
            <a:r>
              <a:rPr lang="en-US" sz="1800" b="0" strike="noStrike" spc="-1">
                <a:solidFill>
                  <a:schemeClr val="dk1"/>
                </a:solidFill>
                <a:latin typeface="Calibri"/>
                <a:ea typeface="Times New Roman"/>
              </a:rPr>
              <a:t>                                                                     </a:t>
            </a:r>
            <a:r>
              <a:rPr lang="en-US" sz="1800" b="0" strike="noStrike" spc="-1">
                <a:solidFill>
                  <a:srgbClr val="222222"/>
                </a:solidFill>
                <a:latin typeface="Times New Roman"/>
                <a:ea typeface="Times New Roman"/>
              </a:rPr>
              <a:t>Krishti Mittal (2301430100123)</a:t>
            </a:r>
            <a:endParaRPr lang="en-IN" sz="1800" b="0" strike="noStrike" spc="-1">
              <a:solidFill>
                <a:srgbClr val="000000"/>
              </a:solidFill>
              <a:latin typeface="Arial"/>
            </a:endParaRPr>
          </a:p>
          <a:p>
            <a:pPr defTabSz="914400">
              <a:lnSpc>
                <a:spcPct val="100000"/>
              </a:lnSpc>
              <a:spcBef>
                <a:spcPts val="400"/>
              </a:spcBef>
              <a:tabLst>
                <a:tab pos="0" algn="l"/>
              </a:tabLst>
            </a:pPr>
            <a:endParaRPr lang="en-IN" sz="20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Introduction</a:t>
            </a:r>
            <a:endParaRPr lang="en-IN" sz="4400" b="0" strike="noStrike" spc="-1">
              <a:solidFill>
                <a:srgbClr val="000000"/>
              </a:solidFill>
              <a:latin typeface="Arial"/>
            </a:endParaRPr>
          </a:p>
        </p:txBody>
      </p:sp>
      <p:sp>
        <p:nvSpPr>
          <p:cNvPr id="15"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16" name="Text 2"/>
          <p:cNvSpPr/>
          <p:nvPr/>
        </p:nvSpPr>
        <p:spPr>
          <a:xfrm>
            <a:off x="457200" y="1188720"/>
            <a:ext cx="8229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000000"/>
                </a:solidFill>
                <a:latin typeface="Times New Roman"/>
                <a:ea typeface="Times New Roman"/>
              </a:rPr>
              <a:t>Background</a:t>
            </a:r>
            <a:endParaRPr lang="en-IN" sz="1800" b="0" strike="noStrike" spc="-1">
              <a:solidFill>
                <a:srgbClr val="000000"/>
              </a:solidFill>
              <a:latin typeface="Arial"/>
            </a:endParaRPr>
          </a:p>
        </p:txBody>
      </p:sp>
      <p:sp>
        <p:nvSpPr>
          <p:cNvPr id="17" name="Shape 3"/>
          <p:cNvSpPr/>
          <p:nvPr/>
        </p:nvSpPr>
        <p:spPr>
          <a:xfrm>
            <a:off x="457200" y="1517760"/>
            <a:ext cx="8229600" cy="360"/>
          </a:xfrm>
          <a:prstGeom prst="line">
            <a:avLst/>
          </a:prstGeom>
          <a:ln w="12700">
            <a:solidFill>
              <a:srgbClr val="BFBFBF"/>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18" name="Text 4"/>
          <p:cNvSpPr/>
          <p:nvPr/>
        </p:nvSpPr>
        <p:spPr>
          <a:xfrm>
            <a:off x="502920" y="1609200"/>
            <a:ext cx="813780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Rapid adoption of AI agents and Large Language Models (LLMs) across industries.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Autonomous AI agents interact with APIs, databases, external tools, and enterprise systems.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Their increasing autonomy introduces new cybersecurity and governance challenges.</a:t>
            </a:r>
          </a:p>
          <a:p>
            <a:pPr marL="177840" indent="-177840" algn="just" defTabSz="914400">
              <a:lnSpc>
                <a:spcPct val="100000"/>
              </a:lnSpc>
              <a:spcAft>
                <a:spcPts val="601"/>
              </a:spcAft>
              <a:buClr>
                <a:srgbClr val="000000"/>
              </a:buClr>
              <a:buFont typeface="OpenSymbol"/>
              <a:buChar char="▪"/>
            </a:pPr>
            <a:endParaRPr lang="en-IN" sz="1600" spc="-1" dirty="0">
              <a:solidFill>
                <a:schemeClr val="dk1"/>
              </a:solidFill>
              <a:latin typeface="Times New Roman"/>
            </a:endParaRPr>
          </a:p>
          <a:p>
            <a:pPr marL="177840" indent="-177840" algn="just" defTabSz="914400">
              <a:lnSpc>
                <a:spcPct val="100000"/>
              </a:lnSpc>
              <a:spcAft>
                <a:spcPts val="601"/>
              </a:spcAft>
              <a:buClr>
                <a:srgbClr val="000000"/>
              </a:buClr>
              <a:buFont typeface="OpenSymbol"/>
              <a:buChar char="▪"/>
            </a:pPr>
            <a:endParaRPr lang="en-IN" sz="1600" b="0" strike="noStrike" spc="-1" dirty="0">
              <a:solidFill>
                <a:schemeClr val="dk1"/>
              </a:solidFill>
              <a:latin typeface="Times New Roman"/>
            </a:endParaRPr>
          </a:p>
        </p:txBody>
      </p:sp>
      <p:sp>
        <p:nvSpPr>
          <p:cNvPr id="19" name="Text 5"/>
          <p:cNvSpPr/>
          <p:nvPr/>
        </p:nvSpPr>
        <p:spPr>
          <a:xfrm>
            <a:off x="457200" y="3593520"/>
            <a:ext cx="82292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strike="noStrike" spc="-1">
                <a:solidFill>
                  <a:srgbClr val="000000"/>
                </a:solidFill>
                <a:latin typeface="Times New Roman"/>
                <a:ea typeface="Times New Roman"/>
              </a:rPr>
              <a:t>Need of the Project</a:t>
            </a:r>
            <a:endParaRPr lang="en-IN" sz="1800" b="0" strike="noStrike" spc="-1">
              <a:solidFill>
                <a:srgbClr val="000000"/>
              </a:solidFill>
              <a:latin typeface="Arial"/>
            </a:endParaRPr>
          </a:p>
        </p:txBody>
      </p:sp>
      <p:sp>
        <p:nvSpPr>
          <p:cNvPr id="20" name="Shape 6"/>
          <p:cNvSpPr/>
          <p:nvPr/>
        </p:nvSpPr>
        <p:spPr>
          <a:xfrm>
            <a:off x="457200" y="3903840"/>
            <a:ext cx="8229600" cy="360"/>
          </a:xfrm>
          <a:prstGeom prst="line">
            <a:avLst/>
          </a:prstGeom>
          <a:ln w="12700">
            <a:solidFill>
              <a:srgbClr val="BFBFBF"/>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dirty="0">
              <a:solidFill>
                <a:schemeClr val="dk1"/>
              </a:solidFill>
              <a:latin typeface="Calibri"/>
            </a:endParaRPr>
          </a:p>
        </p:txBody>
      </p:sp>
      <p:sp>
        <p:nvSpPr>
          <p:cNvPr id="21" name="Text 7"/>
          <p:cNvSpPr/>
          <p:nvPr/>
        </p:nvSpPr>
        <p:spPr>
          <a:xfrm>
            <a:off x="502920" y="4027680"/>
            <a:ext cx="813780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AI agents are vulnerable to prompt injection, jailbreak attacks, and sensitive data leakage.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Traditional cybersecurity solutions cannot monitor or secure AI reasoning processes. </a:t>
            </a:r>
            <a:endParaRPr lang="en-IN" sz="1600" b="0" strike="noStrike" spc="-1" dirty="0">
              <a:solidFill>
                <a:srgbClr val="000000"/>
              </a:solidFill>
              <a:latin typeface="Arial"/>
            </a:endParaRPr>
          </a:p>
          <a:p>
            <a:pPr marL="177840" indent="-177840" algn="just" defTabSz="914400">
              <a:lnSpc>
                <a:spcPct val="100000"/>
              </a:lnSpc>
              <a:spcAft>
                <a:spcPts val="601"/>
              </a:spcAft>
              <a:buClr>
                <a:srgbClr val="000000"/>
              </a:buClr>
              <a:buFont typeface="OpenSymbol"/>
              <a:buChar char="▪"/>
            </a:pPr>
            <a:r>
              <a:rPr lang="en-IN" sz="1600" b="0" strike="noStrike" spc="-1" dirty="0">
                <a:solidFill>
                  <a:schemeClr val="dk1"/>
                </a:solidFill>
                <a:latin typeface="Times New Roman"/>
              </a:rPr>
              <a:t>A dedicated real-time security framework is essential for safe autonomous AI deployment</a:t>
            </a:r>
            <a:r>
              <a:rPr lang="en-US" sz="1600" b="0" strike="noStrike" spc="-1" dirty="0">
                <a:solidFill>
                  <a:srgbClr val="222222"/>
                </a:solidFill>
                <a:latin typeface="Times New Roman"/>
                <a:ea typeface="Times New Roman"/>
              </a:rPr>
              <a:t>.</a:t>
            </a:r>
            <a:endParaRPr lang="en-IN" sz="1600" b="0" strike="noStrike" spc="-1" dirty="0">
              <a:solidFill>
                <a:srgbClr val="000000"/>
              </a:solidFill>
              <a:latin typeface="Arial"/>
            </a:endParaRPr>
          </a:p>
        </p:txBody>
      </p:sp>
      <p:sp>
        <p:nvSpPr>
          <p:cNvPr id="22" name="Text 11"/>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[ii]</a:t>
            </a:r>
            <a:endParaRPr lang="en-IN" sz="11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8"/>
          <p:cNvSpPr/>
          <p:nvPr/>
        </p:nvSpPr>
        <p:spPr>
          <a:xfrm>
            <a:off x="457200" y="0"/>
            <a:ext cx="8229240" cy="104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Overview</a:t>
            </a:r>
            <a:endParaRPr lang="en-IN" sz="4400" b="0" strike="noStrike" spc="-1">
              <a:solidFill>
                <a:srgbClr val="000000"/>
              </a:solidFill>
              <a:latin typeface="Arial"/>
            </a:endParaRPr>
          </a:p>
        </p:txBody>
      </p:sp>
      <p:sp>
        <p:nvSpPr>
          <p:cNvPr id="24" name="Shape 9"/>
          <p:cNvSpPr/>
          <p:nvPr/>
        </p:nvSpPr>
        <p:spPr>
          <a:xfrm>
            <a:off x="566280" y="813600"/>
            <a:ext cx="8229600" cy="360"/>
          </a:xfrm>
          <a:prstGeom prst="line">
            <a:avLst/>
          </a:prstGeom>
          <a:ln w="12700">
            <a:solidFill>
              <a:srgbClr val="BFBFBF"/>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25" name="Text 10"/>
          <p:cNvSpPr/>
          <p:nvPr/>
        </p:nvSpPr>
        <p:spPr>
          <a:xfrm>
            <a:off x="566640" y="1101600"/>
            <a:ext cx="8375040" cy="105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177840" indent="-17784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Provides a real-time security layer for autonomous AI agents. </a:t>
            </a:r>
            <a:endParaRPr lang="en-IN" sz="1600" b="0" strike="noStrike" spc="-1">
              <a:solidFill>
                <a:srgbClr val="000000"/>
              </a:solidFill>
              <a:latin typeface="Arial"/>
            </a:endParaRPr>
          </a:p>
          <a:p>
            <a:pPr marL="177840" indent="-17784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Analyzes and validates user prompts before execution to prevent prompt injection and jailbreak attacks. </a:t>
            </a:r>
            <a:endParaRPr lang="en-IN" sz="1600" b="0" strike="noStrike" spc="-1">
              <a:solidFill>
                <a:srgbClr val="000000"/>
              </a:solidFill>
              <a:latin typeface="Arial"/>
            </a:endParaRPr>
          </a:p>
          <a:p>
            <a:pPr marL="177840" indent="-17784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Monitors AI agent behavior continuously to detect suspicious or abnormal activities. </a:t>
            </a:r>
            <a:endParaRPr lang="en-IN" sz="1600" b="0" strike="noStrike" spc="-1">
              <a:solidFill>
                <a:srgbClr val="000000"/>
              </a:solidFill>
              <a:latin typeface="Arial"/>
            </a:endParaRPr>
          </a:p>
          <a:p>
            <a:pPr marL="177840" indent="-17784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Enforces security policies to prevent unauthorized tool and API access. </a:t>
            </a:r>
            <a:endParaRPr lang="en-IN" sz="1600" b="0" strike="noStrike" spc="-1">
              <a:solidFill>
                <a:srgbClr val="000000"/>
              </a:solidFill>
              <a:latin typeface="Arial"/>
            </a:endParaRPr>
          </a:p>
          <a:p>
            <a:pPr marL="177840" indent="-17784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Calculates risk scores and blocks malicious requests before they reach the AI agent. </a:t>
            </a:r>
            <a:endParaRPr lang="en-IN" sz="1600" b="0" strike="noStrike" spc="-1">
              <a:solidFill>
                <a:srgbClr val="000000"/>
              </a:solidFill>
              <a:latin typeface="Arial"/>
            </a:endParaRPr>
          </a:p>
          <a:p>
            <a:pPr marL="177840" indent="-17784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Protects sensitive data by preventing data leakage and unauthorized information exposure. </a:t>
            </a:r>
            <a:endParaRPr lang="en-IN" sz="1600" b="0" strike="noStrike" spc="-1">
              <a:solidFill>
                <a:srgbClr val="000000"/>
              </a:solidFill>
              <a:latin typeface="Arial"/>
            </a:endParaRPr>
          </a:p>
          <a:p>
            <a:pPr marL="177840" indent="-17784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Generates explainable security alerts, audit logs, and compliance reports for transparency.</a:t>
            </a:r>
            <a:endParaRPr lang="en-IN" sz="1600" b="0" strike="noStrike" spc="-1">
              <a:solidFill>
                <a:srgbClr val="000000"/>
              </a:solidFill>
              <a:latin typeface="Arial"/>
            </a:endParaRPr>
          </a:p>
          <a:p>
            <a:pPr marL="177840" indent="-177840" algn="just" defTabSz="914400">
              <a:lnSpc>
                <a:spcPct val="100000"/>
              </a:lnSpc>
              <a:spcBef>
                <a:spcPts val="1191"/>
              </a:spcBef>
              <a:spcAft>
                <a:spcPts val="992"/>
              </a:spcAft>
              <a:buClr>
                <a:srgbClr val="000000"/>
              </a:buClr>
              <a:buFont typeface="OpenSymbol"/>
              <a:buChar char="▪"/>
            </a:pPr>
            <a:endParaRPr lang="en-IN" sz="16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Problem Statement</a:t>
            </a:r>
            <a:endParaRPr lang="en-IN" sz="4400" b="0" strike="noStrike" spc="-1">
              <a:solidFill>
                <a:srgbClr val="000000"/>
              </a:solidFill>
              <a:latin typeface="Arial"/>
            </a:endParaRPr>
          </a:p>
        </p:txBody>
      </p:sp>
      <p:sp>
        <p:nvSpPr>
          <p:cNvPr id="27"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28" name="Text 7"/>
          <p:cNvSpPr/>
          <p:nvPr/>
        </p:nvSpPr>
        <p:spPr>
          <a:xfrm>
            <a:off x="548640" y="1390680"/>
            <a:ext cx="813780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just" defTabSz="914400">
              <a:lnSpc>
                <a:spcPct val="100000"/>
              </a:lnSpc>
              <a:spcAft>
                <a:spcPts val="601"/>
              </a:spcAft>
            </a:pPr>
            <a:r>
              <a:rPr lang="en-IN" sz="1600" b="0" strike="noStrike" spc="-1">
                <a:solidFill>
                  <a:schemeClr val="dk1"/>
                </a:solidFill>
                <a:latin typeface="Times New Roman"/>
              </a:rPr>
              <a:t>The rapid adoption of autonomous AI agents has introduced security challenges such as prompt injection, jailbreak attacks, unauthorized tool access, and data leakage. Existing security mechanisms are not designed to monitor AI reasoning or enforce runtime protection. Agent Shield AI proposes a dedicated real-time security framework that detects threats, applies policy enforcement, and provides continuous monitoring with explainable security reporting to ensure safe and trustworthy AI operations.</a:t>
            </a:r>
            <a:endParaRPr lang="en-IN" sz="1600" b="0" strike="noStrike" spc="-1">
              <a:solidFill>
                <a:srgbClr val="000000"/>
              </a:solidFill>
              <a:latin typeface="Arial"/>
            </a:endParaRPr>
          </a:p>
        </p:txBody>
      </p:sp>
      <p:sp>
        <p:nvSpPr>
          <p:cNvPr id="29" name="Text 8"/>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[iii]</a:t>
            </a:r>
            <a:endParaRPr lang="en-IN" sz="11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Objectives</a:t>
            </a:r>
            <a:endParaRPr lang="en-IN" sz="4400" b="0" strike="noStrike" spc="-1">
              <a:solidFill>
                <a:srgbClr val="000000"/>
              </a:solidFill>
              <a:latin typeface="Arial"/>
            </a:endParaRPr>
          </a:p>
        </p:txBody>
      </p:sp>
      <p:sp>
        <p:nvSpPr>
          <p:cNvPr id="31"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32" name="Shape 2"/>
          <p:cNvSpPr/>
          <p:nvPr/>
        </p:nvSpPr>
        <p:spPr>
          <a:xfrm>
            <a:off x="640080" y="150876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33" name="Text 3"/>
          <p:cNvSpPr/>
          <p:nvPr/>
        </p:nvSpPr>
        <p:spPr>
          <a:xfrm>
            <a:off x="640080" y="150876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1</a:t>
            </a:r>
            <a:endParaRPr lang="en-IN" sz="2200" b="0" strike="noStrike" spc="-1">
              <a:solidFill>
                <a:srgbClr val="000000"/>
              </a:solidFill>
              <a:latin typeface="Arial"/>
            </a:endParaRPr>
          </a:p>
        </p:txBody>
      </p:sp>
      <p:sp>
        <p:nvSpPr>
          <p:cNvPr id="34" name="Text 4"/>
          <p:cNvSpPr/>
          <p:nvPr/>
        </p:nvSpPr>
        <p:spPr>
          <a:xfrm>
            <a:off x="1508760" y="1398960"/>
            <a:ext cx="7177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defTabSz="914400">
              <a:lnSpc>
                <a:spcPct val="100000"/>
              </a:lnSpc>
            </a:pPr>
            <a:r>
              <a:rPr lang="en-IN" sz="1600" b="0" strike="noStrike" spc="-1">
                <a:solidFill>
                  <a:schemeClr val="dk1"/>
                </a:solidFill>
                <a:latin typeface="Times New Roman"/>
              </a:rPr>
              <a:t>Develop a real-time AI security framework to continuously monitor autonomous AI agents and their interactions.</a:t>
            </a:r>
            <a:endParaRPr lang="en-IN" sz="1600" b="0" strike="noStrike" spc="-1">
              <a:solidFill>
                <a:srgbClr val="000000"/>
              </a:solidFill>
              <a:latin typeface="Arial"/>
            </a:endParaRPr>
          </a:p>
        </p:txBody>
      </p:sp>
      <p:sp>
        <p:nvSpPr>
          <p:cNvPr id="35" name="Shape 5"/>
          <p:cNvSpPr/>
          <p:nvPr/>
        </p:nvSpPr>
        <p:spPr>
          <a:xfrm>
            <a:off x="640080" y="267912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36" name="Text 6"/>
          <p:cNvSpPr/>
          <p:nvPr/>
        </p:nvSpPr>
        <p:spPr>
          <a:xfrm>
            <a:off x="640080" y="267912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2</a:t>
            </a:r>
            <a:endParaRPr lang="en-IN" sz="2200" b="0" strike="noStrike" spc="-1">
              <a:solidFill>
                <a:srgbClr val="000000"/>
              </a:solidFill>
              <a:latin typeface="Arial"/>
            </a:endParaRPr>
          </a:p>
        </p:txBody>
      </p:sp>
      <p:sp>
        <p:nvSpPr>
          <p:cNvPr id="37" name="Text 7"/>
          <p:cNvSpPr/>
          <p:nvPr/>
        </p:nvSpPr>
        <p:spPr>
          <a:xfrm>
            <a:off x="1508760" y="2569320"/>
            <a:ext cx="7177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a:r>
              <a:rPr lang="en-IN" sz="1600" b="0" strike="noStrike" spc="-1">
                <a:solidFill>
                  <a:schemeClr val="dk1"/>
                </a:solidFill>
                <a:latin typeface="Times New Roman"/>
              </a:rPr>
              <a:t>Detect prompt injection, jailbreak attempts, and other malicious inputs before they impact AI decision-making.</a:t>
            </a:r>
            <a:endParaRPr lang="en-IN" sz="1600" spc="-1" dirty="0">
              <a:solidFill>
                <a:srgbClr val="000000"/>
              </a:solidFill>
              <a:latin typeface="Arial"/>
            </a:endParaRPr>
          </a:p>
        </p:txBody>
      </p:sp>
      <p:sp>
        <p:nvSpPr>
          <p:cNvPr id="38" name="Shape 8"/>
          <p:cNvSpPr/>
          <p:nvPr/>
        </p:nvSpPr>
        <p:spPr>
          <a:xfrm>
            <a:off x="640080" y="384948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39" name="Text 9"/>
          <p:cNvSpPr/>
          <p:nvPr/>
        </p:nvSpPr>
        <p:spPr>
          <a:xfrm>
            <a:off x="640080" y="384948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3</a:t>
            </a:r>
            <a:endParaRPr lang="en-IN" sz="2200" b="0" strike="noStrike" spc="-1">
              <a:solidFill>
                <a:srgbClr val="000000"/>
              </a:solidFill>
              <a:latin typeface="Arial"/>
            </a:endParaRPr>
          </a:p>
        </p:txBody>
      </p:sp>
      <p:sp>
        <p:nvSpPr>
          <p:cNvPr id="40" name="Text 10"/>
          <p:cNvSpPr/>
          <p:nvPr/>
        </p:nvSpPr>
        <p:spPr>
          <a:xfrm>
            <a:off x="1508760" y="3849480"/>
            <a:ext cx="7177680" cy="6762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a:r>
              <a:rPr lang="en-IN" sz="1600" b="0" strike="noStrike" spc="-1" dirty="0">
                <a:solidFill>
                  <a:schemeClr val="dk1"/>
                </a:solidFill>
                <a:latin typeface="Times New Roman"/>
              </a:rPr>
              <a:t>Enforce security policies by preventing unauthorized tool execution and protecting sensitive organizational data</a:t>
            </a:r>
            <a:endParaRPr lang="en-IN" sz="1600" dirty="0"/>
          </a:p>
          <a:p>
            <a:pPr algn="just" defTabSz="914400">
              <a:lnSpc>
                <a:spcPct val="100000"/>
              </a:lnSpc>
            </a:pPr>
            <a:r>
              <a:rPr lang="en-IN" sz="1600" b="0" strike="noStrike" spc="-1" dirty="0">
                <a:solidFill>
                  <a:schemeClr val="dk1"/>
                </a:solidFill>
                <a:latin typeface="Times New Roman"/>
              </a:rPr>
              <a:t>.</a:t>
            </a:r>
            <a:endParaRPr lang="en-IN" sz="1600" b="0" strike="noStrike" spc="-1" dirty="0">
              <a:solidFill>
                <a:srgbClr val="000000"/>
              </a:solidFill>
              <a:latin typeface="Arial"/>
            </a:endParaRPr>
          </a:p>
        </p:txBody>
      </p:sp>
      <p:sp>
        <p:nvSpPr>
          <p:cNvPr id="41" name="Shape 11"/>
          <p:cNvSpPr/>
          <p:nvPr/>
        </p:nvSpPr>
        <p:spPr>
          <a:xfrm>
            <a:off x="640080" y="5020200"/>
            <a:ext cx="566640" cy="566640"/>
          </a:xfrm>
          <a:prstGeom prst="ellipse">
            <a:avLst/>
          </a:prstGeom>
          <a:solidFill>
            <a:srgbClr val="FFFFFF"/>
          </a:solidFill>
          <a:ln w="19050">
            <a:solidFill>
              <a:srgbClr val="0000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IN" sz="1800" b="0" strike="noStrike" spc="-1">
              <a:solidFill>
                <a:schemeClr val="dk1"/>
              </a:solidFill>
              <a:latin typeface="Calibri"/>
            </a:endParaRPr>
          </a:p>
        </p:txBody>
      </p:sp>
      <p:sp>
        <p:nvSpPr>
          <p:cNvPr id="42" name="Text 12"/>
          <p:cNvSpPr/>
          <p:nvPr/>
        </p:nvSpPr>
        <p:spPr>
          <a:xfrm>
            <a:off x="640080" y="5020200"/>
            <a:ext cx="5666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1" strike="noStrike" spc="-1">
                <a:solidFill>
                  <a:srgbClr val="000000"/>
                </a:solidFill>
                <a:latin typeface="Times New Roman"/>
                <a:ea typeface="Times New Roman"/>
              </a:rPr>
              <a:t>4</a:t>
            </a:r>
            <a:endParaRPr lang="en-IN" sz="2200" b="0" strike="noStrike" spc="-1">
              <a:solidFill>
                <a:srgbClr val="000000"/>
              </a:solidFill>
              <a:latin typeface="Arial"/>
            </a:endParaRPr>
          </a:p>
        </p:txBody>
      </p:sp>
      <p:sp>
        <p:nvSpPr>
          <p:cNvPr id="43" name="Text 13"/>
          <p:cNvSpPr/>
          <p:nvPr/>
        </p:nvSpPr>
        <p:spPr>
          <a:xfrm>
            <a:off x="1508760" y="4910400"/>
            <a:ext cx="7177680" cy="78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just" defTabSz="914400">
              <a:lnSpc>
                <a:spcPct val="100000"/>
              </a:lnSpc>
            </a:pPr>
            <a:r>
              <a:rPr lang="en-IN" sz="1600" b="0" strike="noStrike" spc="-1">
                <a:solidFill>
                  <a:schemeClr val="dk1"/>
                </a:solidFill>
                <a:latin typeface="Times New Roman"/>
              </a:rPr>
              <a:t>Generate explainable security reports, audit logs, and real-time alerts to improve AI governance and compliance.</a:t>
            </a:r>
            <a:endParaRPr lang="en-IN" sz="1600" b="0" strike="noStrike" spc="-1">
              <a:solidFill>
                <a:srgbClr val="000000"/>
              </a:solidFill>
              <a:latin typeface="Arial"/>
            </a:endParaRPr>
          </a:p>
        </p:txBody>
      </p:sp>
      <p:sp>
        <p:nvSpPr>
          <p:cNvPr id="44" name="Text 14"/>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[iv]</a:t>
            </a:r>
            <a:endParaRPr lang="en-IN" sz="11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Literature Survey</a:t>
            </a:r>
            <a:endParaRPr lang="en-IN" sz="4400" b="0" strike="noStrike" spc="-1">
              <a:solidFill>
                <a:srgbClr val="000000"/>
              </a:solidFill>
              <a:latin typeface="Arial"/>
            </a:endParaRPr>
          </a:p>
        </p:txBody>
      </p:sp>
      <p:sp>
        <p:nvSpPr>
          <p:cNvPr id="46"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graphicFrame>
        <p:nvGraphicFramePr>
          <p:cNvPr id="47" name="Table 0"/>
          <p:cNvGraphicFramePr/>
          <p:nvPr>
            <p:extLst>
              <p:ext uri="{D42A27DB-BD31-4B8C-83A1-F6EECF244321}">
                <p14:modId xmlns:p14="http://schemas.microsoft.com/office/powerpoint/2010/main" val="2754932396"/>
              </p:ext>
            </p:extLst>
          </p:nvPr>
        </p:nvGraphicFramePr>
        <p:xfrm>
          <a:off x="476640" y="1188720"/>
          <a:ext cx="8299440" cy="4449360"/>
        </p:xfrm>
        <a:graphic>
          <a:graphicData uri="http://schemas.openxmlformats.org/drawingml/2006/table">
            <a:tbl>
              <a:tblPr>
                <a:tableStyleId>{2D5ABB26-0587-4C30-8999-92F81FD0307C}</a:tableStyleId>
              </a:tblPr>
              <a:tblGrid>
                <a:gridCol w="2291040">
                  <a:extLst>
                    <a:ext uri="{9D8B030D-6E8A-4147-A177-3AD203B41FA5}">
                      <a16:colId xmlns:a16="http://schemas.microsoft.com/office/drawing/2014/main" val="20000"/>
                    </a:ext>
                  </a:extLst>
                </a:gridCol>
                <a:gridCol w="1663920">
                  <a:extLst>
                    <a:ext uri="{9D8B030D-6E8A-4147-A177-3AD203B41FA5}">
                      <a16:colId xmlns:a16="http://schemas.microsoft.com/office/drawing/2014/main" val="20001"/>
                    </a:ext>
                  </a:extLst>
                </a:gridCol>
                <a:gridCol w="4344480">
                  <a:extLst>
                    <a:ext uri="{9D8B030D-6E8A-4147-A177-3AD203B41FA5}">
                      <a16:colId xmlns:a16="http://schemas.microsoft.com/office/drawing/2014/main" val="20002"/>
                    </a:ext>
                  </a:extLst>
                </a:gridCol>
              </a:tblGrid>
              <a:tr h="853200">
                <a:tc>
                  <a:txBody>
                    <a:bodyPr/>
                    <a:lstStyle/>
                    <a:p>
                      <a:pPr algn="just" defTabSz="457200">
                        <a:lnSpc>
                          <a:spcPct val="100000"/>
                        </a:lnSpc>
                        <a:tabLst>
                          <a:tab pos="0" algn="l"/>
                        </a:tabLst>
                      </a:pPr>
                      <a:r>
                        <a:rPr lang="en-US" sz="1800" b="1" strike="noStrike" spc="-1" dirty="0">
                          <a:solidFill>
                            <a:srgbClr val="222222"/>
                          </a:solidFill>
                        </a:rPr>
                        <a:t>Title</a:t>
                      </a:r>
                      <a:endParaRPr lang="en-IN" sz="18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US" sz="1800" b="1" strike="noStrike" spc="-1" dirty="0">
                          <a:solidFill>
                            <a:srgbClr val="222222"/>
                          </a:solidFill>
                        </a:rPr>
                        <a:t>Source</a:t>
                      </a:r>
                      <a:endParaRPr lang="en-IN" sz="18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US" sz="1800" b="1" strike="noStrike" spc="-1" dirty="0">
                          <a:solidFill>
                            <a:srgbClr val="222222"/>
                          </a:solidFill>
                        </a:rPr>
                        <a:t>Key Contribution</a:t>
                      </a:r>
                      <a:endParaRPr lang="en-IN" sz="1800" b="0" strike="noStrike" spc="-1" dirty="0">
                        <a:solidFill>
                          <a:srgbClr val="000000"/>
                        </a:solidFill>
                        <a:latin typeface="Times New Roman"/>
                      </a:endParaRPr>
                    </a:p>
                  </a:txBody>
                  <a:tcPr marL="50760" marR="50760" anchor="ctr"/>
                </a:tc>
                <a:extLst>
                  <a:ext uri="{0D108BD9-81ED-4DB2-BD59-A6C34878D82A}">
                    <a16:rowId xmlns:a16="http://schemas.microsoft.com/office/drawing/2014/main" val="10000"/>
                  </a:ext>
                </a:extLst>
              </a:tr>
              <a:tr h="853200">
                <a:tc>
                  <a:txBody>
                    <a:bodyPr/>
                    <a:lstStyle/>
                    <a:p>
                      <a:pPr algn="just" defTabSz="457200">
                        <a:lnSpc>
                          <a:spcPct val="100000"/>
                        </a:lnSpc>
                        <a:tabLst>
                          <a:tab pos="0" algn="l"/>
                        </a:tabLst>
                      </a:pPr>
                      <a:r>
                        <a:rPr lang="en-IN" sz="1400" b="0" strike="noStrike" spc="-1" dirty="0">
                          <a:solidFill>
                            <a:schemeClr val="dk1"/>
                          </a:solidFill>
                        </a:rPr>
                        <a:t>OWASP Top 10 for LLM</a:t>
                      </a:r>
                      <a:endParaRPr lang="en-IN" sz="1400" b="0" strike="noStrike" spc="-1" dirty="0">
                        <a:solidFill>
                          <a:srgbClr val="000000"/>
                        </a:solidFill>
                      </a:endParaRPr>
                    </a:p>
                    <a:p>
                      <a:pPr algn="just" defTabSz="457200">
                        <a:lnSpc>
                          <a:spcPct val="100000"/>
                        </a:lnSpc>
                        <a:tabLst>
                          <a:tab pos="0" algn="l"/>
                        </a:tabLst>
                      </a:pPr>
                      <a:r>
                        <a:rPr lang="en-IN" sz="1400" b="0" strike="noStrike" spc="-1" dirty="0">
                          <a:solidFill>
                            <a:schemeClr val="dk1"/>
                          </a:solidFill>
                        </a:rPr>
                        <a:t>Applications (2025)</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u="sng" strike="noStrike" spc="-1" dirty="0">
                          <a:solidFill>
                            <a:schemeClr val="dk1"/>
                          </a:solidFill>
                          <a:uFillTx/>
                          <a:hlinkClick r:id="rId3"/>
                        </a:rPr>
                        <a:t>OWASP Foundation</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a:solidFill>
                            <a:schemeClr val="dk1"/>
                          </a:solidFill>
                        </a:rPr>
                        <a:t>Defines major security risks for LLM applications, including prompt injection and insecure output handling. Provides risk taxonomy but no implementation framework.</a:t>
                      </a:r>
                      <a:endParaRPr lang="en-IN" sz="1400" b="0" strike="noStrike" spc="-1">
                        <a:solidFill>
                          <a:srgbClr val="000000"/>
                        </a:solidFill>
                        <a:latin typeface="Times New Roman"/>
                      </a:endParaRPr>
                    </a:p>
                  </a:txBody>
                  <a:tcPr marL="50760" marR="50760" anchor="ctr"/>
                </a:tc>
                <a:extLst>
                  <a:ext uri="{0D108BD9-81ED-4DB2-BD59-A6C34878D82A}">
                    <a16:rowId xmlns:a16="http://schemas.microsoft.com/office/drawing/2014/main" val="10001"/>
                  </a:ext>
                </a:extLst>
              </a:tr>
              <a:tr h="853200">
                <a:tc>
                  <a:txBody>
                    <a:bodyPr/>
                    <a:lstStyle/>
                    <a:p>
                      <a:pPr algn="just" defTabSz="457200">
                        <a:lnSpc>
                          <a:spcPct val="100000"/>
                        </a:lnSpc>
                        <a:tabLst>
                          <a:tab pos="0" algn="l"/>
                        </a:tabLst>
                      </a:pPr>
                      <a:r>
                        <a:rPr lang="en-US" sz="1400" b="0" strike="noStrike" spc="-1">
                          <a:solidFill>
                            <a:schemeClr val="dk1"/>
                          </a:solidFill>
                        </a:rPr>
                        <a:t>DataSentinel: A Game-Theoretic Detection of Prompt Injection Attacks</a:t>
                      </a:r>
                      <a:r>
                        <a:rPr lang="en-IN" sz="1400" b="0" strike="noStrike" spc="-1">
                          <a:solidFill>
                            <a:schemeClr val="dk1"/>
                          </a:solidFill>
                        </a:rPr>
                        <a:t> (2025)</a:t>
                      </a:r>
                      <a:endParaRPr lang="en-IN" sz="1400" b="0" strike="noStrike" spc="-1">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u="sng" strike="noStrike" spc="-1">
                          <a:solidFill>
                            <a:schemeClr val="dk1"/>
                          </a:solidFill>
                          <a:uFillTx/>
                          <a:hlinkClick r:id="rId4"/>
                        </a:rPr>
                        <a:t>Y. Liu et al., IEEE</a:t>
                      </a:r>
                      <a:endParaRPr lang="en-IN" sz="1400" b="0" strike="noStrike" spc="-1">
                        <a:solidFill>
                          <a:srgbClr val="000000"/>
                        </a:solidFill>
                      </a:endParaRPr>
                    </a:p>
                    <a:p>
                      <a:pPr algn="just" defTabSz="457200">
                        <a:lnSpc>
                          <a:spcPct val="100000"/>
                        </a:lnSpc>
                        <a:tabLst>
                          <a:tab pos="0" algn="l"/>
                        </a:tabLst>
                      </a:pPr>
                      <a:r>
                        <a:rPr lang="en-IN" sz="1400" b="0" u="sng" strike="noStrike" spc="-1">
                          <a:solidFill>
                            <a:schemeClr val="dk1"/>
                          </a:solidFill>
                          <a:uFillTx/>
                          <a:hlinkClick r:id="rId4"/>
                        </a:rPr>
                        <a:t>S&amp;P</a:t>
                      </a:r>
                      <a:endParaRPr lang="en-IN" sz="1400" b="0" strike="noStrike" spc="-1">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a:solidFill>
                            <a:schemeClr val="dk1"/>
                          </a:solidFill>
                        </a:rPr>
                        <a:t>Introduces a game-theoretic approach for detecting prompt injection attacks. Primarily focuses on threat detection rather than complete AI agent security</a:t>
                      </a:r>
                      <a:r>
                        <a:rPr lang="en-US" sz="1400" b="0" strike="noStrike" spc="-1" dirty="0">
                          <a:solidFill>
                            <a:srgbClr val="222222"/>
                          </a:solidFill>
                        </a:rPr>
                        <a:t>.</a:t>
                      </a:r>
                      <a:endParaRPr lang="en-IN" sz="1400" b="0" strike="noStrike" spc="-1" dirty="0">
                        <a:solidFill>
                          <a:srgbClr val="000000"/>
                        </a:solidFill>
                        <a:latin typeface="Times New Roman"/>
                      </a:endParaRPr>
                    </a:p>
                  </a:txBody>
                  <a:tcPr marL="50760" marR="50760" anchor="ctr"/>
                </a:tc>
                <a:extLst>
                  <a:ext uri="{0D108BD9-81ED-4DB2-BD59-A6C34878D82A}">
                    <a16:rowId xmlns:a16="http://schemas.microsoft.com/office/drawing/2014/main" val="10002"/>
                  </a:ext>
                </a:extLst>
              </a:tr>
              <a:tr h="853200">
                <a:tc>
                  <a:txBody>
                    <a:bodyPr/>
                    <a:lstStyle/>
                    <a:p>
                      <a:pPr algn="just" defTabSz="457200">
                        <a:lnSpc>
                          <a:spcPct val="100000"/>
                        </a:lnSpc>
                        <a:tabLst>
                          <a:tab pos="0" algn="l"/>
                        </a:tabLst>
                      </a:pPr>
                      <a:r>
                        <a:rPr lang="en-US" sz="1400" b="0" strike="noStrike" spc="-1" dirty="0" err="1">
                          <a:solidFill>
                            <a:schemeClr val="dk1"/>
                          </a:solidFill>
                        </a:rPr>
                        <a:t>Progent</a:t>
                      </a:r>
                      <a:r>
                        <a:rPr lang="en-US" sz="1400" b="0" strike="noStrike" spc="-1" dirty="0">
                          <a:solidFill>
                            <a:schemeClr val="dk1"/>
                          </a:solidFill>
                        </a:rPr>
                        <a:t>: Securing AI Agents with Privilege Control (2025)</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800" b="0" strike="noStrike" spc="-1" dirty="0" err="1">
                          <a:solidFill>
                            <a:schemeClr val="dk1"/>
                          </a:solidFill>
                          <a:latin typeface="Times New Roman"/>
                          <a:hlinkClick r:id="rId5"/>
                        </a:rPr>
                        <a:t>arXiv</a:t>
                      </a:r>
                      <a:endParaRPr lang="en-IN" sz="18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a:solidFill>
                            <a:schemeClr val="dk1"/>
                          </a:solidFill>
                        </a:rPr>
                        <a:t>Proposes privilege-based access control to restrict AI agent tool usage. Requires manual policy configuration for enforcement.</a:t>
                      </a:r>
                      <a:endParaRPr lang="en-IN" sz="1400" b="0" strike="noStrike" spc="-1">
                        <a:solidFill>
                          <a:srgbClr val="000000"/>
                        </a:solidFill>
                        <a:latin typeface="Times New Roman"/>
                      </a:endParaRPr>
                    </a:p>
                  </a:txBody>
                  <a:tcPr marL="50760" marR="50760" anchor="ctr"/>
                </a:tc>
                <a:extLst>
                  <a:ext uri="{0D108BD9-81ED-4DB2-BD59-A6C34878D82A}">
                    <a16:rowId xmlns:a16="http://schemas.microsoft.com/office/drawing/2014/main" val="10003"/>
                  </a:ext>
                </a:extLst>
              </a:tr>
              <a:tr h="853200">
                <a:tc>
                  <a:txBody>
                    <a:bodyPr/>
                    <a:lstStyle/>
                    <a:p>
                      <a:pPr algn="just" defTabSz="457200">
                        <a:lnSpc>
                          <a:spcPct val="100000"/>
                        </a:lnSpc>
                        <a:tabLst>
                          <a:tab pos="0" algn="l"/>
                        </a:tabLst>
                      </a:pPr>
                      <a:r>
                        <a:rPr lang="en-US" sz="1400" b="0" strike="noStrike" spc="-1" dirty="0" err="1">
                          <a:solidFill>
                            <a:schemeClr val="dk1"/>
                          </a:solidFill>
                        </a:rPr>
                        <a:t>AgentSpec</a:t>
                      </a:r>
                      <a:r>
                        <a:rPr lang="en-US" sz="1400" b="0" strike="noStrike" spc="-1" dirty="0">
                          <a:solidFill>
                            <a:schemeClr val="dk1"/>
                          </a:solidFill>
                        </a:rPr>
                        <a:t>: Customizable Runtime Enforcement for Safe and Reliable LLM Agents</a:t>
                      </a:r>
                      <a:r>
                        <a:rPr lang="en-IN" sz="1400" b="0" strike="noStrike" spc="-1" dirty="0">
                          <a:solidFill>
                            <a:schemeClr val="dk1"/>
                          </a:solidFill>
                        </a:rPr>
                        <a:t> (2025)</a:t>
                      </a:r>
                      <a:endParaRPr lang="en-IN" sz="1400" b="0" strike="noStrike" spc="-1" dirty="0">
                        <a:solidFill>
                          <a:schemeClr val="dk1"/>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err="1">
                          <a:solidFill>
                            <a:schemeClr val="dk1"/>
                          </a:solidFill>
                          <a:latin typeface="Times New Roman"/>
                          <a:hlinkClick r:id="rId6"/>
                        </a:rPr>
                        <a:t>arXiv</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a:solidFill>
                            <a:schemeClr val="dk1"/>
                          </a:solidFill>
                        </a:rPr>
                        <a:t>Provides customizable runtime policy enforcement for safe and reliable AI agents. Enterprise-scale deployment remains largely unexplored.</a:t>
                      </a:r>
                      <a:endParaRPr lang="en-IN" sz="1400" b="0" strike="noStrike" spc="-1" dirty="0">
                        <a:solidFill>
                          <a:schemeClr val="dk1"/>
                        </a:solidFill>
                        <a:latin typeface="Times New Roman"/>
                      </a:endParaRPr>
                    </a:p>
                  </a:txBody>
                  <a:tcPr marL="50760" marR="50760" anchor="ctr"/>
                </a:tc>
                <a:extLst>
                  <a:ext uri="{0D108BD9-81ED-4DB2-BD59-A6C34878D82A}">
                    <a16:rowId xmlns:a16="http://schemas.microsoft.com/office/drawing/2014/main" val="10004"/>
                  </a:ext>
                </a:extLst>
              </a:tr>
            </a:tbl>
          </a:graphicData>
        </a:graphic>
      </p:graphicFrame>
      <p:sp>
        <p:nvSpPr>
          <p:cNvPr id="48" name="Text 2"/>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a:t>
            </a:r>
            <a:endParaRPr lang="en-IN" sz="1100" b="0" strike="noStrike" spc="-1">
              <a:solidFill>
                <a:srgbClr val="000000"/>
              </a:solidFill>
              <a:latin typeface="Arial"/>
            </a:endParaRPr>
          </a:p>
        </p:txBody>
      </p:sp>
      <p:graphicFrame>
        <p:nvGraphicFramePr>
          <p:cNvPr id="4" name="Table 3">
            <a:extLst>
              <a:ext uri="{FF2B5EF4-FFF2-40B4-BE49-F238E27FC236}">
                <a16:creationId xmlns:a16="http://schemas.microsoft.com/office/drawing/2014/main" id="{6ACEB5C3-5575-6C07-57DA-DC57EBB58DB7}"/>
              </a:ext>
            </a:extLst>
          </p:cNvPr>
          <p:cNvGraphicFramePr>
            <a:graphicFrameLocks noGrp="1"/>
          </p:cNvGraphicFramePr>
          <p:nvPr>
            <p:extLst>
              <p:ext uri="{D42A27DB-BD31-4B8C-83A1-F6EECF244321}">
                <p14:modId xmlns:p14="http://schemas.microsoft.com/office/powerpoint/2010/main" val="4014947090"/>
              </p:ext>
            </p:extLst>
          </p:nvPr>
        </p:nvGraphicFramePr>
        <p:xfrm>
          <a:off x="476640" y="5638080"/>
          <a:ext cx="8299440" cy="944880"/>
        </p:xfrm>
        <a:graphic>
          <a:graphicData uri="http://schemas.openxmlformats.org/drawingml/2006/table">
            <a:tbl>
              <a:tblPr>
                <a:tableStyleId>{2D5ABB26-0587-4C30-8999-92F81FD0307C}</a:tableStyleId>
              </a:tblPr>
              <a:tblGrid>
                <a:gridCol w="2291040">
                  <a:extLst>
                    <a:ext uri="{9D8B030D-6E8A-4147-A177-3AD203B41FA5}">
                      <a16:colId xmlns:a16="http://schemas.microsoft.com/office/drawing/2014/main" val="3135519792"/>
                    </a:ext>
                  </a:extLst>
                </a:gridCol>
                <a:gridCol w="1663920">
                  <a:extLst>
                    <a:ext uri="{9D8B030D-6E8A-4147-A177-3AD203B41FA5}">
                      <a16:colId xmlns:a16="http://schemas.microsoft.com/office/drawing/2014/main" val="742039232"/>
                    </a:ext>
                  </a:extLst>
                </a:gridCol>
                <a:gridCol w="4344480">
                  <a:extLst>
                    <a:ext uri="{9D8B030D-6E8A-4147-A177-3AD203B41FA5}">
                      <a16:colId xmlns:a16="http://schemas.microsoft.com/office/drawing/2014/main" val="2857659200"/>
                    </a:ext>
                  </a:extLst>
                </a:gridCol>
              </a:tblGrid>
              <a:tr h="853200">
                <a:tc>
                  <a:txBody>
                    <a:bodyPr/>
                    <a:lstStyle/>
                    <a:p>
                      <a:pPr algn="just" defTabSz="457200">
                        <a:lnSpc>
                          <a:spcPct val="100000"/>
                        </a:lnSpc>
                        <a:tabLst>
                          <a:tab pos="0" algn="l"/>
                        </a:tabLst>
                      </a:pPr>
                      <a:r>
                        <a:rPr lang="en-US" sz="1400" b="0" strike="noStrike" spc="-1" dirty="0">
                          <a:solidFill>
                            <a:srgbClr val="000000"/>
                          </a:solidFill>
                          <a:latin typeface="Times New Roman"/>
                        </a:rPr>
                        <a:t>GPT-4 Technical Report</a:t>
                      </a:r>
                    </a:p>
                    <a:p>
                      <a:pPr algn="just" defTabSz="457200">
                        <a:lnSpc>
                          <a:spcPct val="100000"/>
                        </a:lnSpc>
                        <a:tabLst>
                          <a:tab pos="0" algn="l"/>
                        </a:tabLst>
                      </a:pPr>
                      <a:r>
                        <a:rPr lang="en-US" sz="1400" b="0" strike="noStrike" spc="-1" dirty="0">
                          <a:solidFill>
                            <a:srgbClr val="000000"/>
                          </a:solidFill>
                          <a:latin typeface="Times New Roman"/>
                        </a:rPr>
                        <a:t> OpenAI (2023)</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IN" sz="1400" b="0" strike="noStrike" spc="-1" dirty="0" err="1">
                          <a:solidFill>
                            <a:srgbClr val="000000"/>
                          </a:solidFill>
                          <a:latin typeface="Times New Roman"/>
                          <a:hlinkClick r:id="rId7"/>
                        </a:rPr>
                        <a:t>arXiv</a:t>
                      </a:r>
                      <a:endParaRPr lang="en-IN" sz="1400" b="0" strike="noStrike" spc="-1" dirty="0">
                        <a:solidFill>
                          <a:srgbClr val="000000"/>
                        </a:solidFill>
                        <a:latin typeface="Times New Roman"/>
                      </a:endParaRPr>
                    </a:p>
                  </a:txBody>
                  <a:tcPr marL="50760" marR="50760" anchor="ctr"/>
                </a:tc>
                <a:tc>
                  <a:txBody>
                    <a:bodyPr/>
                    <a:lstStyle/>
                    <a:p>
                      <a:pPr algn="just" defTabSz="457200">
                        <a:lnSpc>
                          <a:spcPct val="100000"/>
                        </a:lnSpc>
                        <a:tabLst>
                          <a:tab pos="0" algn="l"/>
                        </a:tabLst>
                      </a:pPr>
                      <a:r>
                        <a:rPr lang="en-US" sz="1400" dirty="0"/>
                        <a:t>Presents the architecture overview, capabilities, and safety evaluation of GPT-4, demonstrating significant improvements in reasoning, multimodal understanding, and alignment.</a:t>
                      </a:r>
                      <a:endParaRPr lang="en-IN" sz="1400" b="0" strike="noStrike" spc="-1" dirty="0">
                        <a:solidFill>
                          <a:srgbClr val="000000"/>
                        </a:solidFill>
                        <a:latin typeface="Times New Roman"/>
                      </a:endParaRPr>
                    </a:p>
                  </a:txBody>
                  <a:tcPr marL="50760" marR="50760" anchor="ctr"/>
                </a:tc>
                <a:extLst>
                  <a:ext uri="{0D108BD9-81ED-4DB2-BD59-A6C34878D82A}">
                    <a16:rowId xmlns:a16="http://schemas.microsoft.com/office/drawing/2014/main" val="382820188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Research Gap</a:t>
            </a:r>
            <a:endParaRPr lang="en-IN" sz="4400" b="0" strike="noStrike" spc="-1">
              <a:solidFill>
                <a:srgbClr val="000000"/>
              </a:solidFill>
              <a:latin typeface="Arial"/>
            </a:endParaRPr>
          </a:p>
        </p:txBody>
      </p:sp>
      <p:sp>
        <p:nvSpPr>
          <p:cNvPr id="50"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51" name="Text 2"/>
          <p:cNvSpPr/>
          <p:nvPr/>
        </p:nvSpPr>
        <p:spPr>
          <a:xfrm>
            <a:off x="548640" y="1371600"/>
            <a:ext cx="804636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just" defTabSz="914400">
              <a:lnSpc>
                <a:spcPct val="100000"/>
              </a:lnSpc>
            </a:pPr>
            <a:r>
              <a:rPr lang="en-IN" sz="1600" b="0" strike="noStrike" spc="-1">
                <a:solidFill>
                  <a:schemeClr val="dk1"/>
                </a:solidFill>
                <a:latin typeface="Times New Roman"/>
              </a:rPr>
              <a:t>Current AI security solutions address individual threats such as prompt injection or access control, but they lack a unified framework that ensures continuous monitoring, runtime policy enforcement, and explainable governance for autonomous AI agents.</a:t>
            </a:r>
            <a:endParaRPr lang="en-IN" sz="1600" b="0" strike="noStrike" spc="-1">
              <a:solidFill>
                <a:srgbClr val="000000"/>
              </a:solidFill>
              <a:latin typeface="Arial"/>
            </a:endParaRPr>
          </a:p>
          <a:p>
            <a:pPr algn="just" defTabSz="914400">
              <a:lnSpc>
                <a:spcPct val="100000"/>
              </a:lnSpc>
            </a:pP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Existing solutions focus on isolated security challenges rather than end-to-end AI agent protection. </a:t>
            </a: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Limited capability for continuous runtime monitoring of AI reasoning and behaviour. </a:t>
            </a: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Lack of real-time policy enforcement to prevent unauthorized tool execution and data leakage. </a:t>
            </a:r>
            <a:endParaRPr lang="en-IN" sz="1600" b="0" strike="noStrike" spc="-1">
              <a:solidFill>
                <a:srgbClr val="000000"/>
              </a:solidFill>
              <a:latin typeface="Arial"/>
            </a:endParaRPr>
          </a:p>
          <a:p>
            <a:pPr marL="285840" indent="-285840" algn="just" defTabSz="914400">
              <a:lnSpc>
                <a:spcPct val="100000"/>
              </a:lnSpc>
              <a:buClr>
                <a:srgbClr val="000000"/>
              </a:buClr>
              <a:buFont typeface="Wingdings" charset="2"/>
              <a:buChar char=""/>
            </a:pPr>
            <a:r>
              <a:rPr lang="en-IN" sz="1600" b="0" strike="noStrike" spc="-1">
                <a:solidFill>
                  <a:schemeClr val="dk1"/>
                </a:solidFill>
                <a:latin typeface="Times New Roman"/>
              </a:rPr>
              <a:t>Absence of a comprehensive platform integrating threat detection, governance, audit logging, and explainability.</a:t>
            </a:r>
            <a:endParaRPr lang="en-IN" sz="1600" b="0" strike="noStrike" spc="-1">
              <a:solidFill>
                <a:srgbClr val="000000"/>
              </a:solidFill>
              <a:latin typeface="Arial"/>
            </a:endParaRPr>
          </a:p>
        </p:txBody>
      </p:sp>
      <p:sp>
        <p:nvSpPr>
          <p:cNvPr id="52"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[vi]</a:t>
            </a:r>
            <a:endParaRPr lang="en-IN" sz="11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Problem Formulation</a:t>
            </a:r>
            <a:endParaRPr lang="en-IN" sz="4400" b="0" strike="noStrike" spc="-1">
              <a:solidFill>
                <a:srgbClr val="000000"/>
              </a:solidFill>
              <a:latin typeface="Arial"/>
            </a:endParaRPr>
          </a:p>
        </p:txBody>
      </p:sp>
      <p:sp>
        <p:nvSpPr>
          <p:cNvPr id="54"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55" name="Text 2"/>
          <p:cNvSpPr/>
          <p:nvPr/>
        </p:nvSpPr>
        <p:spPr>
          <a:xfrm>
            <a:off x="548640" y="1371600"/>
            <a:ext cx="804636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Continuously monitor AI agents and their interactions in real time.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Detect prompt injection, jailbreak attempts, and abnormal agent behaviour.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Prevent unauthorized tool access and sensitive data leakage through policy enforcement.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Generate explainable security decisions, alerts, and audit logs for transparency. </a:t>
            </a:r>
            <a:endParaRPr lang="en-IN" sz="1600" b="0" strike="noStrike" spc="-1">
              <a:solidFill>
                <a:srgbClr val="000000"/>
              </a:solidFill>
              <a:latin typeface="Arial"/>
            </a:endParaRPr>
          </a:p>
          <a:p>
            <a:pPr marL="343080" indent="-343080" algn="just" defTabSz="914400">
              <a:lnSpc>
                <a:spcPct val="100000"/>
              </a:lnSpc>
              <a:spcAft>
                <a:spcPts val="1800"/>
              </a:spcAft>
              <a:buClr>
                <a:srgbClr val="000000"/>
              </a:buClr>
              <a:buFont typeface="OpenSymbol"/>
              <a:buChar char="▪"/>
            </a:pPr>
            <a:r>
              <a:rPr lang="en-IN" sz="1600" b="0" strike="noStrike" spc="-1">
                <a:solidFill>
                  <a:schemeClr val="dk1"/>
                </a:solidFill>
                <a:latin typeface="Times New Roman"/>
              </a:rPr>
              <a:t>Develop a scalable and extensible security framework adaptable to diverse AI applications.</a:t>
            </a:r>
            <a:endParaRPr lang="en-IN" sz="1600" b="0" strike="noStrike" spc="-1">
              <a:solidFill>
                <a:srgbClr val="000000"/>
              </a:solidFill>
              <a:latin typeface="Arial"/>
            </a:endParaRPr>
          </a:p>
        </p:txBody>
      </p:sp>
      <p:sp>
        <p:nvSpPr>
          <p:cNvPr id="56"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[vii]</a:t>
            </a:r>
            <a:endParaRPr lang="en-IN" sz="11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Proposed Solution</a:t>
            </a:r>
            <a:endParaRPr lang="en-IN" sz="4400" b="0" strike="noStrike" spc="-1">
              <a:solidFill>
                <a:srgbClr val="000000"/>
              </a:solidFill>
              <a:latin typeface="Arial"/>
            </a:endParaRPr>
          </a:p>
        </p:txBody>
      </p:sp>
      <p:sp>
        <p:nvSpPr>
          <p:cNvPr id="58"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59" name="Text 2"/>
          <p:cNvSpPr/>
          <p:nvPr/>
        </p:nvSpPr>
        <p:spPr>
          <a:xfrm>
            <a:off x="548640" y="1371600"/>
            <a:ext cx="804636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Develop Agent Shield AI, an intelligent runtime security framework for autonomous AI agents.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Analyze prompts in real time to detect prompt injection, jailbreak attempts, and other malicious inputs before execution.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Calculate a dynamic risk score to assess threats and generate instant security alerts for suspicious activities.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Enforce security policies by blocking unauthorized tool access and preventing sensitive data leakage.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Maintain continuous monitoring, audit logs, and explainable security reports to ensure AI governance, transparency, and regulatory compliance.</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endParaRPr lang="en-IN" sz="1600" b="0" strike="noStrike" spc="-1">
              <a:solidFill>
                <a:srgbClr val="000000"/>
              </a:solidFill>
              <a:latin typeface="Arial"/>
            </a:endParaRPr>
          </a:p>
        </p:txBody>
      </p:sp>
      <p:sp>
        <p:nvSpPr>
          <p:cNvPr id="60"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[viii]</a:t>
            </a:r>
            <a:endParaRPr lang="en-IN" sz="11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Expected Outcomes</a:t>
            </a:r>
            <a:endParaRPr lang="en-IN" sz="4400" b="0" strike="noStrike" spc="-1">
              <a:solidFill>
                <a:srgbClr val="000000"/>
              </a:solidFill>
              <a:latin typeface="Arial"/>
            </a:endParaRPr>
          </a:p>
        </p:txBody>
      </p:sp>
      <p:sp>
        <p:nvSpPr>
          <p:cNvPr id="62"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63" name="Text 2"/>
          <p:cNvSpPr/>
          <p:nvPr/>
        </p:nvSpPr>
        <p:spPr>
          <a:xfrm>
            <a:off x="548640" y="1371600"/>
            <a:ext cx="8046360" cy="475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Enhanced AI Security through real-time detection of prompt injection, jailbreaks, and malicious activities.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Secure AI Operations by enforcing runtime security policies and preventing unauthorized tool access and data leakage.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Continuous Threat Monitoring with dynamic risk scoring, behavioural analysis, and instant security alerts.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Improved Governance &amp; Compliance using explainable security decisions, audit logs, and comprehensive security reports.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Greater Trust in Autonomous AI Systems, enabling secure, scalable, and reliable enterprise adoption of AI agents.</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endParaRPr lang="en-IN" sz="1600" b="0" strike="noStrike" spc="-1">
              <a:solidFill>
                <a:srgbClr val="000000"/>
              </a:solidFill>
              <a:latin typeface="Arial"/>
            </a:endParaRPr>
          </a:p>
        </p:txBody>
      </p:sp>
      <p:sp>
        <p:nvSpPr>
          <p:cNvPr id="64"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[x]</a:t>
            </a:r>
            <a:endParaRPr lang="en-IN" sz="11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Conclusion</a:t>
            </a:r>
            <a:endParaRPr lang="en-IN" sz="4400" b="0" strike="noStrike" spc="-1">
              <a:solidFill>
                <a:srgbClr val="000000"/>
              </a:solidFill>
              <a:latin typeface="Arial"/>
            </a:endParaRPr>
          </a:p>
        </p:txBody>
      </p:sp>
      <p:sp>
        <p:nvSpPr>
          <p:cNvPr id="66"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67" name="Text 2"/>
          <p:cNvSpPr/>
          <p:nvPr/>
        </p:nvSpPr>
        <p:spPr>
          <a:xfrm>
            <a:off x="548640" y="1371600"/>
            <a:ext cx="8046360" cy="457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Agent Shield AI introduces a dedicated runtime security framework for protecting autonomous AI agents.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Integrates real-time threat detection, continuous monitoring, and policy enforcement to ensure secure AI operations.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Enhances transparency, governance, and compliance through explainable security decisions, audit logs, and real-time reporting. </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r>
              <a:rPr lang="en-IN" sz="1600" b="0" strike="noStrike" spc="-1">
                <a:solidFill>
                  <a:schemeClr val="dk1"/>
                </a:solidFill>
                <a:latin typeface="Times New Roman"/>
              </a:rPr>
              <a:t>Provides a scalable and extensible foundation for the secure deployment of next-generation AI agents across diverse enterprise applications.</a:t>
            </a:r>
            <a:endParaRPr lang="en-IN" sz="1600" b="0" strike="noStrike" spc="-1">
              <a:solidFill>
                <a:srgbClr val="000000"/>
              </a:solidFill>
              <a:latin typeface="Arial"/>
            </a:endParaRPr>
          </a:p>
          <a:p>
            <a:pPr marL="343080" indent="-343080" algn="just" defTabSz="914400">
              <a:lnSpc>
                <a:spcPct val="100000"/>
              </a:lnSpc>
              <a:spcBef>
                <a:spcPts val="1191"/>
              </a:spcBef>
              <a:spcAft>
                <a:spcPts val="992"/>
              </a:spcAft>
              <a:buClr>
                <a:srgbClr val="000000"/>
              </a:buClr>
              <a:buFont typeface="OpenSymbol"/>
              <a:buChar char="▪"/>
            </a:pPr>
            <a:endParaRPr lang="en-IN" sz="1600" b="0" strike="noStrike" spc="-1">
              <a:solidFill>
                <a:srgbClr val="000000"/>
              </a:solidFill>
              <a:latin typeface="Arial"/>
            </a:endParaRPr>
          </a:p>
        </p:txBody>
      </p:sp>
      <p:sp>
        <p:nvSpPr>
          <p:cNvPr id="68"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[xi]</a:t>
            </a:r>
            <a:endParaRPr lang="en-IN" sz="11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 name="Text 0"/>
          <p:cNvSpPr/>
          <p:nvPr/>
        </p:nvSpPr>
        <p:spPr>
          <a:xfrm>
            <a:off x="457200" y="320040"/>
            <a:ext cx="8229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References (IEEE Format)</a:t>
            </a:r>
            <a:endParaRPr lang="en-IN" sz="4400" b="0" strike="noStrike" spc="-1">
              <a:solidFill>
                <a:srgbClr val="000000"/>
              </a:solidFill>
              <a:latin typeface="Arial"/>
            </a:endParaRPr>
          </a:p>
        </p:txBody>
      </p:sp>
      <p:sp>
        <p:nvSpPr>
          <p:cNvPr id="70" name="Shape 1"/>
          <p:cNvSpPr/>
          <p:nvPr/>
        </p:nvSpPr>
        <p:spPr>
          <a:xfrm>
            <a:off x="457200" y="987480"/>
            <a:ext cx="8229600" cy="360"/>
          </a:xfrm>
          <a:prstGeom prst="line">
            <a:avLst/>
          </a:prstGeom>
          <a:ln w="12700">
            <a:solidFill>
              <a:srgbClr val="D9D9D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IN" sz="1800" b="0" strike="noStrike" spc="-1">
              <a:solidFill>
                <a:schemeClr val="dk1"/>
              </a:solidFill>
              <a:latin typeface="Calibri"/>
            </a:endParaRPr>
          </a:p>
        </p:txBody>
      </p:sp>
      <p:sp>
        <p:nvSpPr>
          <p:cNvPr id="71" name="Text 2"/>
          <p:cNvSpPr/>
          <p:nvPr/>
        </p:nvSpPr>
        <p:spPr>
          <a:xfrm>
            <a:off x="457200" y="1280160"/>
            <a:ext cx="8320680" cy="502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just" defTabSz="914400">
              <a:lnSpc>
                <a:spcPct val="100000"/>
              </a:lnSpc>
            </a:pPr>
            <a:r>
              <a:rPr lang="en-IN" sz="1600" b="0" strike="noStrike" spc="-1" dirty="0">
                <a:solidFill>
                  <a:schemeClr val="dk1"/>
                </a:solidFill>
                <a:latin typeface="Times New Roman"/>
              </a:rPr>
              <a:t>[1] OWASP Foundation, </a:t>
            </a:r>
            <a:r>
              <a:rPr lang="en-IN" sz="1600" b="0" i="1" strike="noStrike" spc="-1" dirty="0">
                <a:solidFill>
                  <a:schemeClr val="dk1"/>
                </a:solidFill>
                <a:latin typeface="Times New Roman"/>
              </a:rPr>
              <a:t>“OWASP Top 10 for LLM Applications 2025,”</a:t>
            </a:r>
            <a:r>
              <a:rPr lang="en-IN" sz="1600" b="0" strike="noStrike" spc="-1" dirty="0">
                <a:solidFill>
                  <a:schemeClr val="dk1"/>
                </a:solidFill>
                <a:latin typeface="Times New Roman"/>
              </a:rPr>
              <a:t> OWASP, </a:t>
            </a:r>
            <a:r>
              <a:rPr lang="en-IN" sz="1600" b="0" strike="noStrike" spc="-1">
                <a:solidFill>
                  <a:schemeClr val="dk1"/>
                </a:solidFill>
                <a:latin typeface="Times New Roman"/>
              </a:rPr>
              <a:t>2025.</a:t>
            </a:r>
            <a:endParaRPr lang="en-IN" sz="1600" b="0" strike="noStrike" spc="-1" dirty="0">
              <a:solidFill>
                <a:srgbClr val="000000"/>
              </a:solidFill>
              <a:latin typeface="Arial"/>
            </a:endParaRPr>
          </a:p>
          <a:p>
            <a:pPr algn="just" defTabSz="914400">
              <a:lnSpc>
                <a:spcPct val="100000"/>
              </a:lnSpc>
            </a:pPr>
            <a:endParaRPr lang="en-IN" sz="1600" b="0" strike="noStrike" spc="-1" dirty="0">
              <a:solidFill>
                <a:srgbClr val="000000"/>
              </a:solidFill>
              <a:latin typeface="Arial"/>
            </a:endParaRPr>
          </a:p>
          <a:p>
            <a:pPr algn="just" defTabSz="914400">
              <a:lnSpc>
                <a:spcPct val="100000"/>
              </a:lnSpc>
            </a:pPr>
            <a:r>
              <a:rPr lang="en-IN" sz="1600" b="0" strike="noStrike" spc="-1" dirty="0">
                <a:solidFill>
                  <a:schemeClr val="dk1"/>
                </a:solidFill>
                <a:latin typeface="Times New Roman"/>
              </a:rPr>
              <a:t>[2] Y. Liu, Y. Jia, J. Jia, D. Song, and N. Z. Gong, </a:t>
            </a:r>
            <a:r>
              <a:rPr lang="en-IN" sz="1600" b="0" i="1" strike="noStrike" spc="-1" dirty="0">
                <a:solidFill>
                  <a:schemeClr val="dk1"/>
                </a:solidFill>
                <a:latin typeface="Times New Roman"/>
              </a:rPr>
              <a:t>“</a:t>
            </a:r>
            <a:r>
              <a:rPr lang="en-IN" sz="1600" b="0" i="1" strike="noStrike" spc="-1" dirty="0" err="1">
                <a:solidFill>
                  <a:schemeClr val="dk1"/>
                </a:solidFill>
                <a:latin typeface="Times New Roman"/>
              </a:rPr>
              <a:t>DataSentinel</a:t>
            </a:r>
            <a:r>
              <a:rPr lang="en-IN" sz="1600" b="0" i="1" strike="noStrike" spc="-1" dirty="0">
                <a:solidFill>
                  <a:schemeClr val="dk1"/>
                </a:solidFill>
                <a:latin typeface="Times New Roman"/>
              </a:rPr>
              <a:t>: A Game-Theoretic Detection of Prompt Injection Attacks,”</a:t>
            </a:r>
            <a:r>
              <a:rPr lang="en-IN" sz="1600" b="0" strike="noStrike" spc="-1" dirty="0">
                <a:solidFill>
                  <a:schemeClr val="dk1"/>
                </a:solidFill>
                <a:latin typeface="Times New Roman"/>
              </a:rPr>
              <a:t> IEEE Symposium on Security and Privacy (S&amp;P), 2025.</a:t>
            </a:r>
            <a:endParaRPr lang="en-IN" sz="1600" b="0" strike="noStrike" spc="-1" dirty="0">
              <a:solidFill>
                <a:srgbClr val="000000"/>
              </a:solidFill>
              <a:latin typeface="Arial"/>
            </a:endParaRPr>
          </a:p>
          <a:p>
            <a:pPr algn="just" defTabSz="914400">
              <a:lnSpc>
                <a:spcPct val="100000"/>
              </a:lnSpc>
            </a:pPr>
            <a:endParaRPr lang="en-IN" sz="1600" b="0" strike="noStrike" spc="-1" dirty="0">
              <a:solidFill>
                <a:srgbClr val="000000"/>
              </a:solidFill>
              <a:latin typeface="Arial"/>
            </a:endParaRPr>
          </a:p>
          <a:p>
            <a:pPr algn="just" defTabSz="914400">
              <a:lnSpc>
                <a:spcPct val="100000"/>
              </a:lnSpc>
            </a:pPr>
            <a:r>
              <a:rPr lang="en-IN" sz="1600" b="0" strike="noStrike" spc="-1" dirty="0">
                <a:solidFill>
                  <a:schemeClr val="dk1"/>
                </a:solidFill>
                <a:latin typeface="Times New Roman"/>
              </a:rPr>
              <a:t>[3] H. Wang, C. M. Poskitt, and J. Sun, </a:t>
            </a:r>
            <a:r>
              <a:rPr lang="en-IN" sz="1600" b="0" i="1" strike="noStrike" spc="-1" dirty="0">
                <a:solidFill>
                  <a:schemeClr val="dk1"/>
                </a:solidFill>
                <a:latin typeface="Times New Roman"/>
              </a:rPr>
              <a:t>“</a:t>
            </a:r>
            <a:r>
              <a:rPr lang="en-IN" sz="1600" b="0" i="1" strike="noStrike" spc="-1" dirty="0" err="1">
                <a:solidFill>
                  <a:schemeClr val="dk1"/>
                </a:solidFill>
                <a:latin typeface="Times New Roman"/>
              </a:rPr>
              <a:t>AgentSpec</a:t>
            </a:r>
            <a:r>
              <a:rPr lang="en-IN" sz="1600" b="0" i="1" strike="noStrike" spc="-1" dirty="0">
                <a:solidFill>
                  <a:schemeClr val="dk1"/>
                </a:solidFill>
                <a:latin typeface="Times New Roman"/>
              </a:rPr>
              <a:t>: Customizable Runtime Enforcement for Safe and Reliable LLM Agents,”</a:t>
            </a:r>
            <a:r>
              <a:rPr lang="en-IN" sz="1600" b="0" strike="noStrike" spc="-1" dirty="0">
                <a:solidFill>
                  <a:schemeClr val="dk1"/>
                </a:solidFill>
                <a:latin typeface="Times New Roman"/>
              </a:rPr>
              <a:t> arXiv:2503.18666, 2025.</a:t>
            </a:r>
            <a:endParaRPr lang="en-IN" sz="1600" b="0" strike="noStrike" spc="-1" dirty="0">
              <a:solidFill>
                <a:srgbClr val="000000"/>
              </a:solidFill>
              <a:latin typeface="Arial"/>
            </a:endParaRPr>
          </a:p>
          <a:p>
            <a:pPr algn="just" defTabSz="914400">
              <a:lnSpc>
                <a:spcPct val="100000"/>
              </a:lnSpc>
            </a:pPr>
            <a:endParaRPr lang="en-IN" sz="1600" b="0" strike="noStrike" spc="-1" dirty="0">
              <a:solidFill>
                <a:srgbClr val="000000"/>
              </a:solidFill>
              <a:latin typeface="Arial"/>
            </a:endParaRPr>
          </a:p>
          <a:p>
            <a:pPr algn="just" defTabSz="914400">
              <a:lnSpc>
                <a:spcPct val="100000"/>
              </a:lnSpc>
            </a:pPr>
            <a:r>
              <a:rPr lang="en-IN" sz="1600" b="0" strike="noStrike" spc="-1" dirty="0">
                <a:solidFill>
                  <a:schemeClr val="dk1"/>
                </a:solidFill>
                <a:latin typeface="Times New Roman"/>
              </a:rPr>
              <a:t>[4] S. Yao, J. Zhao, D. Yu, N. Du, I. Shafran, K. Narasimhan, and Y. Cao, </a:t>
            </a:r>
            <a:r>
              <a:rPr lang="en-IN" sz="1600" b="0" i="1" strike="noStrike" spc="-1" dirty="0">
                <a:solidFill>
                  <a:schemeClr val="dk1"/>
                </a:solidFill>
                <a:latin typeface="Times New Roman"/>
              </a:rPr>
              <a:t>“</a:t>
            </a:r>
            <a:r>
              <a:rPr lang="en-IN" sz="1600" b="0" i="1" strike="noStrike" spc="-1" dirty="0" err="1">
                <a:solidFill>
                  <a:schemeClr val="dk1"/>
                </a:solidFill>
                <a:latin typeface="Times New Roman"/>
              </a:rPr>
              <a:t>ReAct</a:t>
            </a:r>
            <a:r>
              <a:rPr lang="en-IN" sz="1600" b="0" i="1" strike="noStrike" spc="-1" dirty="0">
                <a:solidFill>
                  <a:schemeClr val="dk1"/>
                </a:solidFill>
                <a:latin typeface="Times New Roman"/>
              </a:rPr>
              <a:t>: Synergizing Reasoning and Acting in Language Models,”</a:t>
            </a:r>
            <a:r>
              <a:rPr lang="en-IN" sz="1600" b="0" strike="noStrike" spc="-1" dirty="0">
                <a:solidFill>
                  <a:schemeClr val="dk1"/>
                </a:solidFill>
                <a:latin typeface="Times New Roman"/>
              </a:rPr>
              <a:t> International Conference on Learning Representations (ICLR), 2023.</a:t>
            </a:r>
          </a:p>
          <a:p>
            <a:pPr algn="just" defTabSz="914400">
              <a:lnSpc>
                <a:spcPct val="100000"/>
              </a:lnSpc>
            </a:pPr>
            <a:endParaRPr lang="en-IN" sz="1600" spc="-1" dirty="0">
              <a:solidFill>
                <a:schemeClr val="dk1"/>
              </a:solidFill>
              <a:latin typeface="Times New Roman"/>
            </a:endParaRPr>
          </a:p>
          <a:p>
            <a:pPr algn="just"/>
            <a:r>
              <a:rPr lang="en-IN" sz="1600" b="0" strike="noStrike" spc="-1" dirty="0">
                <a:solidFill>
                  <a:schemeClr val="dk1"/>
                </a:solidFill>
                <a:latin typeface="Times New Roman"/>
              </a:rPr>
              <a:t>[5] OpenAI, “GPT-4 Technical Report,” </a:t>
            </a:r>
            <a:r>
              <a:rPr lang="en-IN" sz="1600" b="0" strike="noStrike" spc="-1" dirty="0" err="1">
                <a:solidFill>
                  <a:schemeClr val="dk1"/>
                </a:solidFill>
                <a:latin typeface="Times New Roman"/>
              </a:rPr>
              <a:t>arXiv</a:t>
            </a:r>
            <a:r>
              <a:rPr lang="en-IN" sz="1600" b="0" strike="noStrike" spc="-1" dirty="0">
                <a:solidFill>
                  <a:schemeClr val="dk1"/>
                </a:solidFill>
                <a:latin typeface="Times New Roman"/>
              </a:rPr>
              <a:t> preprint arXiv:2303.08774, Mar. 2023.</a:t>
            </a:r>
            <a:endParaRPr lang="en-IN" sz="1600" b="0" strike="noStrike" spc="-1" dirty="0">
              <a:solidFill>
                <a:srgbClr val="000000"/>
              </a:solidFill>
              <a:latin typeface="Arial"/>
            </a:endParaRPr>
          </a:p>
        </p:txBody>
      </p:sp>
      <p:sp>
        <p:nvSpPr>
          <p:cNvPr id="72" name="Text 3"/>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[xii]</a:t>
            </a:r>
            <a:endParaRPr lang="en-IN" sz="11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 name="Text 1"/>
          <p:cNvSpPr/>
          <p:nvPr/>
        </p:nvSpPr>
        <p:spPr>
          <a:xfrm>
            <a:off x="0" y="2834640"/>
            <a:ext cx="91436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00000"/>
                </a:solidFill>
                <a:latin typeface="Times New Roman"/>
                <a:ea typeface="Times New Roman"/>
              </a:rPr>
              <a:t>Thank You</a:t>
            </a:r>
            <a:endParaRPr lang="en-IN" sz="4400" b="0" strike="noStrike" spc="-1">
              <a:solidFill>
                <a:srgbClr val="000000"/>
              </a:solidFill>
              <a:latin typeface="Arial"/>
            </a:endParaRPr>
          </a:p>
        </p:txBody>
      </p:sp>
      <p:sp>
        <p:nvSpPr>
          <p:cNvPr id="74" name="Text 2"/>
          <p:cNvSpPr/>
          <p:nvPr/>
        </p:nvSpPr>
        <p:spPr>
          <a:xfrm>
            <a:off x="0" y="6537960"/>
            <a:ext cx="91436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95959"/>
                </a:solidFill>
                <a:latin typeface="Times New Roman"/>
                <a:ea typeface="Times New Roman"/>
              </a:rPr>
              <a:t>[xiii]</a:t>
            </a:r>
            <a:endParaRPr lang="en-IN" sz="1100" b="0" strike="noStrike" spc="-1">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375</TotalTime>
  <Words>1227</Words>
  <Application>Microsoft Office PowerPoint</Application>
  <PresentationFormat>On-screen Show (4:3)</PresentationFormat>
  <Paragraphs>129</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OpenSymbol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dc:description/>
  <cp:lastModifiedBy>Aditya Sharma</cp:lastModifiedBy>
  <cp:revision>12</cp:revision>
  <dcterms:created xsi:type="dcterms:W3CDTF">2026-07-22T10:36:18Z</dcterms:created>
  <dcterms:modified xsi:type="dcterms:W3CDTF">2026-07-25T04:21:14Z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(4:3)</vt:lpwstr>
  </property>
  <property fmtid="{D5CDD505-2E9C-101B-9397-08002B2CF9AE}" pid="4" name="Slides">
    <vt:i4>13</vt:i4>
  </property>
</Properties>
</file>