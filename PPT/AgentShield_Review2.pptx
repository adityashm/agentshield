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74" r:id="rId10"/>
    <p:sldId id="275" r:id="rId11"/>
    <p:sldId id="277" r:id="rId12"/>
    <p:sldId id="273" r:id="rId13"/>
    <p:sldId id="276" r:id="rId14"/>
    <p:sldId id="270" r:id="rId15"/>
    <p:sldId id="271" r:id="rId16"/>
    <p:sldId id="272"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1240"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enu Sharma" userId="a6a791179d8aa208" providerId="LiveId" clId="{33E29525-1FF2-4B18-8F8E-D96FE486F630}"/>
    <pc:docChg chg="custSel addSld modSld sldOrd">
      <pc:chgData name="Meenu Sharma" userId="a6a791179d8aa208" providerId="LiveId" clId="{33E29525-1FF2-4B18-8F8E-D96FE486F630}" dt="2026-09-07T06:21:35.581" v="291" actId="2711"/>
      <pc:docMkLst>
        <pc:docMk/>
      </pc:docMkLst>
      <pc:sldChg chg="modSp mod">
        <pc:chgData name="Meenu Sharma" userId="a6a791179d8aa208" providerId="LiveId" clId="{33E29525-1FF2-4B18-8F8E-D96FE486F630}" dt="2026-09-07T06:16:41.372" v="160" actId="2711"/>
        <pc:sldMkLst>
          <pc:docMk/>
          <pc:sldMk cId="0" sldId="257"/>
        </pc:sldMkLst>
        <pc:spChg chg="mod">
          <ac:chgData name="Meenu Sharma" userId="a6a791179d8aa208" providerId="LiveId" clId="{33E29525-1FF2-4B18-8F8E-D96FE486F630}" dt="2026-09-07T06:16:33.873" v="159" actId="2711"/>
          <ac:spMkLst>
            <pc:docMk/>
            <pc:sldMk cId="0" sldId="257"/>
            <ac:spMk id="2" creationId="{00000000-0000-0000-0000-000000000000}"/>
          </ac:spMkLst>
        </pc:spChg>
        <pc:spChg chg="mod">
          <ac:chgData name="Meenu Sharma" userId="a6a791179d8aa208" providerId="LiveId" clId="{33E29525-1FF2-4B18-8F8E-D96FE486F630}" dt="2026-09-07T06:16:41.372" v="160" actId="2711"/>
          <ac:spMkLst>
            <pc:docMk/>
            <pc:sldMk cId="0" sldId="257"/>
            <ac:spMk id="3" creationId="{00000000-0000-0000-0000-000000000000}"/>
          </ac:spMkLst>
        </pc:spChg>
      </pc:sldChg>
      <pc:sldChg chg="modSp mod">
        <pc:chgData name="Meenu Sharma" userId="a6a791179d8aa208" providerId="LiveId" clId="{33E29525-1FF2-4B18-8F8E-D96FE486F630}" dt="2026-09-07T06:17:18.532" v="194" actId="20577"/>
        <pc:sldMkLst>
          <pc:docMk/>
          <pc:sldMk cId="0" sldId="258"/>
        </pc:sldMkLst>
        <pc:spChg chg="mod">
          <ac:chgData name="Meenu Sharma" userId="a6a791179d8aa208" providerId="LiveId" clId="{33E29525-1FF2-4B18-8F8E-D96FE486F630}" dt="2026-09-07T06:16:51.980" v="161" actId="2711"/>
          <ac:spMkLst>
            <pc:docMk/>
            <pc:sldMk cId="0" sldId="258"/>
            <ac:spMk id="2" creationId="{00000000-0000-0000-0000-000000000000}"/>
          </ac:spMkLst>
        </pc:spChg>
        <pc:spChg chg="mod">
          <ac:chgData name="Meenu Sharma" userId="a6a791179d8aa208" providerId="LiveId" clId="{33E29525-1FF2-4B18-8F8E-D96FE486F630}" dt="2026-09-07T06:17:18.532" v="194" actId="20577"/>
          <ac:spMkLst>
            <pc:docMk/>
            <pc:sldMk cId="0" sldId="258"/>
            <ac:spMk id="3" creationId="{00000000-0000-0000-0000-000000000000}"/>
          </ac:spMkLst>
        </pc:spChg>
      </pc:sldChg>
      <pc:sldChg chg="modSp mod">
        <pc:chgData name="Meenu Sharma" userId="a6a791179d8aa208" providerId="LiveId" clId="{33E29525-1FF2-4B18-8F8E-D96FE486F630}" dt="2026-09-07T06:17:39.224" v="196" actId="2711"/>
        <pc:sldMkLst>
          <pc:docMk/>
          <pc:sldMk cId="0" sldId="259"/>
        </pc:sldMkLst>
        <pc:spChg chg="mod">
          <ac:chgData name="Meenu Sharma" userId="a6a791179d8aa208" providerId="LiveId" clId="{33E29525-1FF2-4B18-8F8E-D96FE486F630}" dt="2026-09-07T06:17:32.933" v="195" actId="2711"/>
          <ac:spMkLst>
            <pc:docMk/>
            <pc:sldMk cId="0" sldId="259"/>
            <ac:spMk id="2" creationId="{00000000-0000-0000-0000-000000000000}"/>
          </ac:spMkLst>
        </pc:spChg>
        <pc:spChg chg="mod">
          <ac:chgData name="Meenu Sharma" userId="a6a791179d8aa208" providerId="LiveId" clId="{33E29525-1FF2-4B18-8F8E-D96FE486F630}" dt="2026-09-07T06:17:39.224" v="196" actId="2711"/>
          <ac:spMkLst>
            <pc:docMk/>
            <pc:sldMk cId="0" sldId="259"/>
            <ac:spMk id="3" creationId="{00000000-0000-0000-0000-000000000000}"/>
          </ac:spMkLst>
        </pc:spChg>
      </pc:sldChg>
      <pc:sldChg chg="modSp mod">
        <pc:chgData name="Meenu Sharma" userId="a6a791179d8aa208" providerId="LiveId" clId="{33E29525-1FF2-4B18-8F8E-D96FE486F630}" dt="2026-09-07T06:17:56.389" v="198" actId="2711"/>
        <pc:sldMkLst>
          <pc:docMk/>
          <pc:sldMk cId="0" sldId="260"/>
        </pc:sldMkLst>
        <pc:spChg chg="mod">
          <ac:chgData name="Meenu Sharma" userId="a6a791179d8aa208" providerId="LiveId" clId="{33E29525-1FF2-4B18-8F8E-D96FE486F630}" dt="2026-09-07T06:17:50.432" v="197" actId="2711"/>
          <ac:spMkLst>
            <pc:docMk/>
            <pc:sldMk cId="0" sldId="260"/>
            <ac:spMk id="2" creationId="{00000000-0000-0000-0000-000000000000}"/>
          </ac:spMkLst>
        </pc:spChg>
        <pc:spChg chg="mod">
          <ac:chgData name="Meenu Sharma" userId="a6a791179d8aa208" providerId="LiveId" clId="{33E29525-1FF2-4B18-8F8E-D96FE486F630}" dt="2026-09-07T06:17:56.389" v="198" actId="2711"/>
          <ac:spMkLst>
            <pc:docMk/>
            <pc:sldMk cId="0" sldId="260"/>
            <ac:spMk id="3" creationId="{00000000-0000-0000-0000-000000000000}"/>
          </ac:spMkLst>
        </pc:spChg>
      </pc:sldChg>
      <pc:sldChg chg="modSp mod">
        <pc:chgData name="Meenu Sharma" userId="a6a791179d8aa208" providerId="LiveId" clId="{33E29525-1FF2-4B18-8F8E-D96FE486F630}" dt="2026-09-07T06:18:10.058" v="200" actId="2711"/>
        <pc:sldMkLst>
          <pc:docMk/>
          <pc:sldMk cId="0" sldId="261"/>
        </pc:sldMkLst>
        <pc:spChg chg="mod">
          <ac:chgData name="Meenu Sharma" userId="a6a791179d8aa208" providerId="LiveId" clId="{33E29525-1FF2-4B18-8F8E-D96FE486F630}" dt="2026-09-07T06:18:04.108" v="199" actId="2711"/>
          <ac:spMkLst>
            <pc:docMk/>
            <pc:sldMk cId="0" sldId="261"/>
            <ac:spMk id="2" creationId="{00000000-0000-0000-0000-000000000000}"/>
          </ac:spMkLst>
        </pc:spChg>
        <pc:spChg chg="mod">
          <ac:chgData name="Meenu Sharma" userId="a6a791179d8aa208" providerId="LiveId" clId="{33E29525-1FF2-4B18-8F8E-D96FE486F630}" dt="2026-09-07T06:18:10.058" v="200" actId="2711"/>
          <ac:spMkLst>
            <pc:docMk/>
            <pc:sldMk cId="0" sldId="261"/>
            <ac:spMk id="3" creationId="{00000000-0000-0000-0000-000000000000}"/>
          </ac:spMkLst>
        </pc:spChg>
      </pc:sldChg>
      <pc:sldChg chg="modSp mod">
        <pc:chgData name="Meenu Sharma" userId="a6a791179d8aa208" providerId="LiveId" clId="{33E29525-1FF2-4B18-8F8E-D96FE486F630}" dt="2026-09-07T06:18:28.265" v="202" actId="2711"/>
        <pc:sldMkLst>
          <pc:docMk/>
          <pc:sldMk cId="0" sldId="262"/>
        </pc:sldMkLst>
        <pc:spChg chg="mod">
          <ac:chgData name="Meenu Sharma" userId="a6a791179d8aa208" providerId="LiveId" clId="{33E29525-1FF2-4B18-8F8E-D96FE486F630}" dt="2026-09-07T06:18:22.421" v="201" actId="2711"/>
          <ac:spMkLst>
            <pc:docMk/>
            <pc:sldMk cId="0" sldId="262"/>
            <ac:spMk id="2" creationId="{00000000-0000-0000-0000-000000000000}"/>
          </ac:spMkLst>
        </pc:spChg>
        <pc:spChg chg="mod">
          <ac:chgData name="Meenu Sharma" userId="a6a791179d8aa208" providerId="LiveId" clId="{33E29525-1FF2-4B18-8F8E-D96FE486F630}" dt="2026-09-07T06:18:28.265" v="202" actId="2711"/>
          <ac:spMkLst>
            <pc:docMk/>
            <pc:sldMk cId="0" sldId="262"/>
            <ac:spMk id="3" creationId="{00000000-0000-0000-0000-000000000000}"/>
          </ac:spMkLst>
        </pc:spChg>
      </pc:sldChg>
      <pc:sldChg chg="modSp mod">
        <pc:chgData name="Meenu Sharma" userId="a6a791179d8aa208" providerId="LiveId" clId="{33E29525-1FF2-4B18-8F8E-D96FE486F630}" dt="2026-09-07T06:18:45.453" v="204" actId="2711"/>
        <pc:sldMkLst>
          <pc:docMk/>
          <pc:sldMk cId="0" sldId="263"/>
        </pc:sldMkLst>
        <pc:spChg chg="mod">
          <ac:chgData name="Meenu Sharma" userId="a6a791179d8aa208" providerId="LiveId" clId="{33E29525-1FF2-4B18-8F8E-D96FE486F630}" dt="2026-09-07T06:18:38.604" v="203" actId="2711"/>
          <ac:spMkLst>
            <pc:docMk/>
            <pc:sldMk cId="0" sldId="263"/>
            <ac:spMk id="2" creationId="{00000000-0000-0000-0000-000000000000}"/>
          </ac:spMkLst>
        </pc:spChg>
        <pc:spChg chg="mod">
          <ac:chgData name="Meenu Sharma" userId="a6a791179d8aa208" providerId="LiveId" clId="{33E29525-1FF2-4B18-8F8E-D96FE486F630}" dt="2026-09-07T06:18:45.453" v="204" actId="2711"/>
          <ac:spMkLst>
            <pc:docMk/>
            <pc:sldMk cId="0" sldId="263"/>
            <ac:spMk id="3" creationId="{00000000-0000-0000-0000-000000000000}"/>
          </ac:spMkLst>
        </pc:spChg>
      </pc:sldChg>
      <pc:sldChg chg="modSp mod">
        <pc:chgData name="Meenu Sharma" userId="a6a791179d8aa208" providerId="LiveId" clId="{33E29525-1FF2-4B18-8F8E-D96FE486F630}" dt="2026-09-07T06:21:07.920" v="288" actId="2711"/>
        <pc:sldMkLst>
          <pc:docMk/>
          <pc:sldMk cId="0" sldId="270"/>
        </pc:sldMkLst>
        <pc:spChg chg="mod">
          <ac:chgData name="Meenu Sharma" userId="a6a791179d8aa208" providerId="LiveId" clId="{33E29525-1FF2-4B18-8F8E-D96FE486F630}" dt="2026-09-07T06:21:02.236" v="287" actId="2711"/>
          <ac:spMkLst>
            <pc:docMk/>
            <pc:sldMk cId="0" sldId="270"/>
            <ac:spMk id="2" creationId="{00000000-0000-0000-0000-000000000000}"/>
          </ac:spMkLst>
        </pc:spChg>
        <pc:spChg chg="mod">
          <ac:chgData name="Meenu Sharma" userId="a6a791179d8aa208" providerId="LiveId" clId="{33E29525-1FF2-4B18-8F8E-D96FE486F630}" dt="2026-09-07T06:21:07.920" v="288" actId="2711"/>
          <ac:spMkLst>
            <pc:docMk/>
            <pc:sldMk cId="0" sldId="270"/>
            <ac:spMk id="3" creationId="{00000000-0000-0000-0000-000000000000}"/>
          </ac:spMkLst>
        </pc:spChg>
      </pc:sldChg>
      <pc:sldChg chg="modSp mod">
        <pc:chgData name="Meenu Sharma" userId="a6a791179d8aa208" providerId="LiveId" clId="{33E29525-1FF2-4B18-8F8E-D96FE486F630}" dt="2026-09-07T06:21:22.347" v="290" actId="2711"/>
        <pc:sldMkLst>
          <pc:docMk/>
          <pc:sldMk cId="0" sldId="271"/>
        </pc:sldMkLst>
        <pc:spChg chg="mod">
          <ac:chgData name="Meenu Sharma" userId="a6a791179d8aa208" providerId="LiveId" clId="{33E29525-1FF2-4B18-8F8E-D96FE486F630}" dt="2026-09-07T06:21:16.392" v="289" actId="2711"/>
          <ac:spMkLst>
            <pc:docMk/>
            <pc:sldMk cId="0" sldId="271"/>
            <ac:spMk id="2" creationId="{00000000-0000-0000-0000-000000000000}"/>
          </ac:spMkLst>
        </pc:spChg>
        <pc:spChg chg="mod">
          <ac:chgData name="Meenu Sharma" userId="a6a791179d8aa208" providerId="LiveId" clId="{33E29525-1FF2-4B18-8F8E-D96FE486F630}" dt="2026-09-07T06:21:22.347" v="290" actId="2711"/>
          <ac:spMkLst>
            <pc:docMk/>
            <pc:sldMk cId="0" sldId="271"/>
            <ac:spMk id="3" creationId="{00000000-0000-0000-0000-000000000000}"/>
          </ac:spMkLst>
        </pc:spChg>
      </pc:sldChg>
      <pc:sldChg chg="modSp mod">
        <pc:chgData name="Meenu Sharma" userId="a6a791179d8aa208" providerId="LiveId" clId="{33E29525-1FF2-4B18-8F8E-D96FE486F630}" dt="2026-09-07T06:21:35.581" v="291" actId="2711"/>
        <pc:sldMkLst>
          <pc:docMk/>
          <pc:sldMk cId="0" sldId="272"/>
        </pc:sldMkLst>
        <pc:spChg chg="mod">
          <ac:chgData name="Meenu Sharma" userId="a6a791179d8aa208" providerId="LiveId" clId="{33E29525-1FF2-4B18-8F8E-D96FE486F630}" dt="2026-09-07T06:21:35.581" v="291" actId="2711"/>
          <ac:spMkLst>
            <pc:docMk/>
            <pc:sldMk cId="0" sldId="272"/>
            <ac:spMk id="2" creationId="{00000000-0000-0000-0000-000000000000}"/>
          </ac:spMkLst>
        </pc:spChg>
      </pc:sldChg>
      <pc:sldChg chg="modSp mod">
        <pc:chgData name="Meenu Sharma" userId="a6a791179d8aa208" providerId="LiveId" clId="{33E29525-1FF2-4B18-8F8E-D96FE486F630}" dt="2026-09-07T06:20:37.250" v="284" actId="2711"/>
        <pc:sldMkLst>
          <pc:docMk/>
          <pc:sldMk cId="2849546460" sldId="273"/>
        </pc:sldMkLst>
        <pc:spChg chg="mod">
          <ac:chgData name="Meenu Sharma" userId="a6a791179d8aa208" providerId="LiveId" clId="{33E29525-1FF2-4B18-8F8E-D96FE486F630}" dt="2026-09-07T06:20:04.660" v="252" actId="2711"/>
          <ac:spMkLst>
            <pc:docMk/>
            <pc:sldMk cId="2849546460" sldId="273"/>
            <ac:spMk id="2" creationId="{187E2AAD-35AF-BD30-99BE-431CF2538C18}"/>
          </ac:spMkLst>
        </pc:spChg>
        <pc:spChg chg="mod">
          <ac:chgData name="Meenu Sharma" userId="a6a791179d8aa208" providerId="LiveId" clId="{33E29525-1FF2-4B18-8F8E-D96FE486F630}" dt="2026-09-07T06:20:37.250" v="284" actId="2711"/>
          <ac:spMkLst>
            <pc:docMk/>
            <pc:sldMk cId="2849546460" sldId="273"/>
            <ac:spMk id="3" creationId="{7B53FEA3-3FDF-13DB-9661-1BD2AC35724A}"/>
          </ac:spMkLst>
        </pc:spChg>
      </pc:sldChg>
      <pc:sldChg chg="modSp new mod">
        <pc:chgData name="Meenu Sharma" userId="a6a791179d8aa208" providerId="LiveId" clId="{33E29525-1FF2-4B18-8F8E-D96FE486F630}" dt="2026-09-07T06:19:24.788" v="249" actId="20577"/>
        <pc:sldMkLst>
          <pc:docMk/>
          <pc:sldMk cId="1541190727" sldId="274"/>
        </pc:sldMkLst>
        <pc:spChg chg="mod">
          <ac:chgData name="Meenu Sharma" userId="a6a791179d8aa208" providerId="LiveId" clId="{33E29525-1FF2-4B18-8F8E-D96FE486F630}" dt="2026-09-07T06:18:54.584" v="205" actId="2711"/>
          <ac:spMkLst>
            <pc:docMk/>
            <pc:sldMk cId="1541190727" sldId="274"/>
            <ac:spMk id="2" creationId="{525D2B59-D89C-C1D7-6ED0-190E2E3348BA}"/>
          </ac:spMkLst>
        </pc:spChg>
        <pc:spChg chg="mod">
          <ac:chgData name="Meenu Sharma" userId="a6a791179d8aa208" providerId="LiveId" clId="{33E29525-1FF2-4B18-8F8E-D96FE486F630}" dt="2026-09-07T06:19:24.788" v="249" actId="20577"/>
          <ac:spMkLst>
            <pc:docMk/>
            <pc:sldMk cId="1541190727" sldId="274"/>
            <ac:spMk id="3" creationId="{B7AAB94D-784B-B48B-1ABE-58EB684E9DD2}"/>
          </ac:spMkLst>
        </pc:spChg>
      </pc:sldChg>
      <pc:sldChg chg="modSp new mod">
        <pc:chgData name="Meenu Sharma" userId="a6a791179d8aa208" providerId="LiveId" clId="{33E29525-1FF2-4B18-8F8E-D96FE486F630}" dt="2026-09-07T06:19:50.938" v="251" actId="2711"/>
        <pc:sldMkLst>
          <pc:docMk/>
          <pc:sldMk cId="79216186" sldId="275"/>
        </pc:sldMkLst>
        <pc:spChg chg="mod">
          <ac:chgData name="Meenu Sharma" userId="a6a791179d8aa208" providerId="LiveId" clId="{33E29525-1FF2-4B18-8F8E-D96FE486F630}" dt="2026-09-07T06:19:42.045" v="250" actId="2711"/>
          <ac:spMkLst>
            <pc:docMk/>
            <pc:sldMk cId="79216186" sldId="275"/>
            <ac:spMk id="2" creationId="{C863966A-D984-9A68-B641-6B3F3D41CE24}"/>
          </ac:spMkLst>
        </pc:spChg>
        <pc:spChg chg="mod">
          <ac:chgData name="Meenu Sharma" userId="a6a791179d8aa208" providerId="LiveId" clId="{33E29525-1FF2-4B18-8F8E-D96FE486F630}" dt="2026-09-07T06:19:50.938" v="251" actId="2711"/>
          <ac:spMkLst>
            <pc:docMk/>
            <pc:sldMk cId="79216186" sldId="275"/>
            <ac:spMk id="3" creationId="{DEA625B2-9A20-5513-675D-B0E6118D0820}"/>
          </ac:spMkLst>
        </pc:spChg>
      </pc:sldChg>
      <pc:sldChg chg="modSp new mod ord">
        <pc:chgData name="Meenu Sharma" userId="a6a791179d8aa208" providerId="LiveId" clId="{33E29525-1FF2-4B18-8F8E-D96FE486F630}" dt="2026-09-07T06:20:53.726" v="286" actId="2711"/>
        <pc:sldMkLst>
          <pc:docMk/>
          <pc:sldMk cId="873298748" sldId="276"/>
        </pc:sldMkLst>
        <pc:spChg chg="mod">
          <ac:chgData name="Meenu Sharma" userId="a6a791179d8aa208" providerId="LiveId" clId="{33E29525-1FF2-4B18-8F8E-D96FE486F630}" dt="2026-09-07T06:20:47.054" v="285" actId="2711"/>
          <ac:spMkLst>
            <pc:docMk/>
            <pc:sldMk cId="873298748" sldId="276"/>
            <ac:spMk id="2" creationId="{6725AFDB-F6DD-3574-6B9F-D320B91CDCBA}"/>
          </ac:spMkLst>
        </pc:spChg>
        <pc:spChg chg="mod">
          <ac:chgData name="Meenu Sharma" userId="a6a791179d8aa208" providerId="LiveId" clId="{33E29525-1FF2-4B18-8F8E-D96FE486F630}" dt="2026-09-07T06:20:53.726" v="286" actId="2711"/>
          <ac:spMkLst>
            <pc:docMk/>
            <pc:sldMk cId="873298748" sldId="276"/>
            <ac:spMk id="3" creationId="{1378DA2A-40E4-F72E-49D6-164F4E978D6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arxiv.org/abs/2504.11358" TargetMode="External"/><Relationship Id="rId2" Type="http://schemas.openxmlformats.org/officeDocument/2006/relationships/hyperlink" Target="https://genai.owasp.org/llmrisk/llm01-prompt-injection/" TargetMode="External"/><Relationship Id="rId1" Type="http://schemas.openxmlformats.org/officeDocument/2006/relationships/slideLayout" Target="../slideLayouts/slideLayout2.xml"/><Relationship Id="rId6" Type="http://schemas.openxmlformats.org/officeDocument/2006/relationships/hyperlink" Target="https://arxiv.org/abs/2303.08774" TargetMode="External"/><Relationship Id="rId5" Type="http://schemas.openxmlformats.org/officeDocument/2006/relationships/hyperlink" Target="https://arxiv.org/abs/2503.18666" TargetMode="External"/><Relationship Id="rId4" Type="http://schemas.openxmlformats.org/officeDocument/2006/relationships/hyperlink" Target="https://arxiv.org/abs/2504.11703"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p:nvPr/>
        </p:nvSpPr>
        <p:spPr>
          <a:xfrm>
            <a:off x="816480" y="201600"/>
            <a:ext cx="7772040" cy="1537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914400">
              <a:lnSpc>
                <a:spcPct val="100000"/>
              </a:lnSpc>
              <a:spcBef>
                <a:spcPts val="1199"/>
              </a:spcBef>
            </a:pPr>
            <a:r>
              <a:rPr lang="en-US" sz="2400" b="1" strike="noStrike" spc="-1">
                <a:solidFill>
                  <a:schemeClr val="dk1"/>
                </a:solidFill>
                <a:latin typeface="Times New Roman"/>
              </a:rPr>
              <a:t>Project (BCS-753) Presentation </a:t>
            </a:r>
            <a:br>
              <a:rPr sz="2400"/>
            </a:br>
            <a:r>
              <a:rPr lang="en-US" sz="2400" b="1" strike="noStrike" spc="-1">
                <a:solidFill>
                  <a:schemeClr val="dk1"/>
                </a:solidFill>
                <a:latin typeface="Times New Roman"/>
              </a:rPr>
              <a:t>on</a:t>
            </a:r>
            <a:br>
              <a:rPr sz="2400"/>
            </a:br>
            <a:r>
              <a:rPr lang="en-US" sz="2400" b="1" strike="noStrike" spc="-1">
                <a:solidFill>
                  <a:srgbClr val="000000"/>
                </a:solidFill>
                <a:latin typeface="Times New Roman"/>
                <a:ea typeface="Times New Roman"/>
              </a:rPr>
              <a:t>AgentSheild AI</a:t>
            </a:r>
            <a:endParaRPr lang="en-IN" sz="2400" b="0" strike="noStrike" spc="-1">
              <a:solidFill>
                <a:srgbClr val="000000"/>
              </a:solidFill>
              <a:latin typeface="Arial"/>
            </a:endParaRPr>
          </a:p>
          <a:p>
            <a:pPr algn="ctr" defTabSz="914400">
              <a:lnSpc>
                <a:spcPct val="100000"/>
              </a:lnSpc>
            </a:pPr>
            <a:r>
              <a:rPr lang="en-IN" sz="1700" b="1" strike="noStrike" spc="-1">
                <a:solidFill>
                  <a:schemeClr val="dk1"/>
                </a:solidFill>
                <a:latin typeface="Times New Roman"/>
                <a:ea typeface="Times New Roman"/>
              </a:rPr>
              <a:t>A Real-Time Security Framework for Autonomous AI Agents</a:t>
            </a:r>
            <a:endParaRPr lang="en-IN" sz="1700" b="0" strike="noStrike" spc="-1">
              <a:solidFill>
                <a:srgbClr val="000000"/>
              </a:solidFill>
              <a:latin typeface="Arial"/>
            </a:endParaRPr>
          </a:p>
          <a:p>
            <a:pPr algn="ctr" defTabSz="914400">
              <a:lnSpc>
                <a:spcPct val="100000"/>
              </a:lnSpc>
              <a:spcBef>
                <a:spcPts val="1199"/>
              </a:spcBef>
            </a:pPr>
            <a:endParaRPr lang="en-IN" sz="2400" b="0" strike="noStrike" spc="-1">
              <a:solidFill>
                <a:srgbClr val="000000"/>
              </a:solidFill>
              <a:latin typeface="Arial"/>
            </a:endParaRPr>
          </a:p>
          <a:p>
            <a:pPr algn="ctr" defTabSz="914400">
              <a:lnSpc>
                <a:spcPct val="100000"/>
              </a:lnSpc>
              <a:spcBef>
                <a:spcPts val="1199"/>
              </a:spcBef>
            </a:pPr>
            <a:endParaRPr lang="en-IN" sz="2400" b="0" strike="noStrike" spc="-1">
              <a:solidFill>
                <a:srgbClr val="000000"/>
              </a:solidFill>
              <a:latin typeface="Arial"/>
            </a:endParaRPr>
          </a:p>
        </p:txBody>
      </p:sp>
      <p:sp>
        <p:nvSpPr>
          <p:cNvPr id="9" name="Subtitle 2"/>
          <p:cNvSpPr/>
          <p:nvPr/>
        </p:nvSpPr>
        <p:spPr>
          <a:xfrm>
            <a:off x="700920" y="3535920"/>
            <a:ext cx="3819240" cy="190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defTabSz="914400">
              <a:lnSpc>
                <a:spcPct val="100000"/>
              </a:lnSpc>
              <a:spcBef>
                <a:spcPts val="400"/>
              </a:spcBef>
              <a:tabLst>
                <a:tab pos="0" algn="l"/>
              </a:tabLst>
            </a:pPr>
            <a:r>
              <a:rPr lang="en-US" sz="2000" b="1" strike="noStrike" spc="-1">
                <a:solidFill>
                  <a:schemeClr val="dk1"/>
                </a:solidFill>
                <a:latin typeface="Times New Roman"/>
                <a:ea typeface="Times New Roman"/>
              </a:rPr>
              <a:t>Supervisor:                                            </a:t>
            </a:r>
            <a:r>
              <a:rPr lang="en-US" sz="1800" b="0" strike="noStrike" spc="-1">
                <a:solidFill>
                  <a:schemeClr val="dk1"/>
                </a:solidFill>
                <a:latin typeface="Times New Roman"/>
                <a:ea typeface="Times New Roman"/>
              </a:rPr>
              <a:t>Ms. Meenu Sharma	</a:t>
            </a:r>
            <a:endParaRPr lang="en-IN" sz="1800" b="0" strike="noStrike" spc="-1">
              <a:solidFill>
                <a:srgbClr val="000000"/>
              </a:solidFill>
              <a:latin typeface="Arial"/>
            </a:endParaRPr>
          </a:p>
          <a:p>
            <a:pPr defTabSz="914400">
              <a:lnSpc>
                <a:spcPct val="100000"/>
              </a:lnSpc>
              <a:spcBef>
                <a:spcPts val="360"/>
              </a:spcBef>
              <a:tabLst>
                <a:tab pos="0" algn="l"/>
              </a:tabLst>
            </a:pPr>
            <a:r>
              <a:rPr lang="en-US" sz="1800" b="0" strike="noStrike" spc="-1">
                <a:solidFill>
                  <a:schemeClr val="dk1"/>
                </a:solidFill>
                <a:latin typeface="Times New Roman"/>
                <a:ea typeface="Times New Roman"/>
              </a:rPr>
              <a:t>Assistant Professor</a:t>
            </a:r>
            <a:endParaRPr lang="en-IN" sz="1800" b="0" strike="noStrike" spc="-1">
              <a:solidFill>
                <a:srgbClr val="000000"/>
              </a:solidFill>
              <a:latin typeface="Arial"/>
            </a:endParaRPr>
          </a:p>
          <a:p>
            <a:pPr defTabSz="914400">
              <a:lnSpc>
                <a:spcPct val="100000"/>
              </a:lnSpc>
              <a:spcBef>
                <a:spcPts val="360"/>
              </a:spcBef>
              <a:tabLst>
                <a:tab pos="0" algn="l"/>
              </a:tabLst>
            </a:pPr>
            <a:r>
              <a:rPr lang="en-US" sz="1800" b="0" strike="noStrike" spc="-1">
                <a:solidFill>
                  <a:schemeClr val="dk1"/>
                </a:solidFill>
                <a:latin typeface="Times New Roman"/>
                <a:ea typeface="Times New Roman"/>
              </a:rPr>
              <a:t>Department of CSE</a:t>
            </a:r>
            <a:endParaRPr lang="en-IN" sz="1800" b="0" strike="noStrike" spc="-1">
              <a:solidFill>
                <a:srgbClr val="000000"/>
              </a:solidFill>
              <a:latin typeface="Arial"/>
            </a:endParaRPr>
          </a:p>
          <a:p>
            <a:pPr defTabSz="914400">
              <a:lnSpc>
                <a:spcPct val="100000"/>
              </a:lnSpc>
              <a:spcBef>
                <a:spcPts val="400"/>
              </a:spcBef>
              <a:tabLst>
                <a:tab pos="0" algn="l"/>
              </a:tabLst>
            </a:pPr>
            <a:r>
              <a:rPr lang="en-US" sz="2000" b="0" strike="noStrike" spc="-1">
                <a:solidFill>
                  <a:schemeClr val="dk1"/>
                </a:solidFill>
                <a:latin typeface="Times New Roman"/>
                <a:ea typeface="Times New Roman"/>
              </a:rPr>
              <a:t>	</a:t>
            </a:r>
            <a:endParaRPr lang="en-IN" sz="2000" b="0" strike="noStrike" spc="-1">
              <a:solidFill>
                <a:srgbClr val="000000"/>
              </a:solidFill>
              <a:latin typeface="Arial"/>
            </a:endParaRPr>
          </a:p>
        </p:txBody>
      </p:sp>
      <p:pic>
        <p:nvPicPr>
          <p:cNvPr id="10" name="Picture 3"/>
          <p:cNvPicPr/>
          <p:nvPr/>
        </p:nvPicPr>
        <p:blipFill>
          <a:blip r:embed="rId2"/>
          <a:stretch/>
        </p:blipFill>
        <p:spPr>
          <a:xfrm>
            <a:off x="3944520" y="1739160"/>
            <a:ext cx="1254240" cy="1218960"/>
          </a:xfrm>
          <a:prstGeom prst="rect">
            <a:avLst/>
          </a:prstGeom>
          <a:ln w="0">
            <a:noFill/>
          </a:ln>
        </p:spPr>
      </p:pic>
      <p:sp>
        <p:nvSpPr>
          <p:cNvPr id="11" name="TextBox 4"/>
          <p:cNvSpPr/>
          <p:nvPr/>
        </p:nvSpPr>
        <p:spPr>
          <a:xfrm>
            <a:off x="2478600" y="2970720"/>
            <a:ext cx="4186080" cy="39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strike="noStrike" spc="-1">
                <a:solidFill>
                  <a:schemeClr val="dk1"/>
                </a:solidFill>
                <a:latin typeface="Times New Roman"/>
                <a:ea typeface="Times New Roman"/>
              </a:rPr>
              <a:t>Group Number-26MPA06</a:t>
            </a:r>
            <a:endParaRPr lang="en-IN" sz="2000" b="0" strike="noStrike" spc="-1">
              <a:solidFill>
                <a:srgbClr val="000000"/>
              </a:solidFill>
              <a:latin typeface="Arial"/>
            </a:endParaRPr>
          </a:p>
        </p:txBody>
      </p:sp>
      <p:sp>
        <p:nvSpPr>
          <p:cNvPr id="12" name="TextBox 5"/>
          <p:cNvSpPr/>
          <p:nvPr/>
        </p:nvSpPr>
        <p:spPr>
          <a:xfrm>
            <a:off x="1277640" y="5450400"/>
            <a:ext cx="6588720" cy="130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tabLst>
                <a:tab pos="0" algn="l"/>
              </a:tabLst>
            </a:pPr>
            <a:r>
              <a:rPr lang="en-US" sz="2000" b="1" strike="noStrike" spc="-1">
                <a:solidFill>
                  <a:schemeClr val="dk1"/>
                </a:solidFill>
                <a:latin typeface="Times New Roman"/>
              </a:rPr>
              <a:t>Department  of Computer Science &amp; Engineering</a:t>
            </a:r>
            <a:endParaRPr lang="en-IN" sz="2000" b="0" strike="noStrike" spc="-1">
              <a:solidFill>
                <a:srgbClr val="000000"/>
              </a:solidFill>
              <a:latin typeface="Arial"/>
            </a:endParaRPr>
          </a:p>
          <a:p>
            <a:pPr algn="ctr" defTabSz="914400">
              <a:lnSpc>
                <a:spcPct val="100000"/>
              </a:lnSpc>
              <a:tabLst>
                <a:tab pos="0" algn="l"/>
              </a:tabLst>
            </a:pPr>
            <a:r>
              <a:rPr lang="en-US" sz="2000" b="0" strike="noStrike" spc="-1">
                <a:solidFill>
                  <a:schemeClr val="dk1"/>
                </a:solidFill>
                <a:latin typeface="Times New Roman"/>
                <a:ea typeface="Times New Roman"/>
              </a:rPr>
              <a:t>IMS Engineering College, Ghaziabad</a:t>
            </a:r>
            <a:endParaRPr lang="en-IN" sz="2000" b="0" strike="noStrike" spc="-1">
              <a:solidFill>
                <a:srgbClr val="000000"/>
              </a:solidFill>
              <a:latin typeface="Arial"/>
            </a:endParaRPr>
          </a:p>
          <a:p>
            <a:pPr algn="ctr" defTabSz="914400">
              <a:lnSpc>
                <a:spcPct val="100000"/>
              </a:lnSpc>
              <a:tabLst>
                <a:tab pos="0" algn="l"/>
              </a:tabLst>
            </a:pPr>
            <a:r>
              <a:rPr lang="en-US" sz="2000" b="0" strike="noStrike" spc="-1">
                <a:solidFill>
                  <a:schemeClr val="dk1"/>
                </a:solidFill>
                <a:latin typeface="Times New Roman"/>
                <a:ea typeface="Times New Roman"/>
              </a:rPr>
              <a:t>Dr. A.P.J Abdul Kalam Technical University, Lucknow</a:t>
            </a:r>
            <a:endParaRPr lang="en-IN" sz="2000" b="0" strike="noStrike" spc="-1">
              <a:solidFill>
                <a:srgbClr val="000000"/>
              </a:solidFill>
              <a:latin typeface="Arial"/>
            </a:endParaRPr>
          </a:p>
          <a:p>
            <a:pPr algn="ctr" defTabSz="914400">
              <a:lnSpc>
                <a:spcPct val="100000"/>
              </a:lnSpc>
              <a:tabLst>
                <a:tab pos="0" algn="l"/>
              </a:tabLst>
            </a:pPr>
            <a:r>
              <a:rPr lang="en-US" sz="2000" b="0" strike="noStrike" spc="-1">
                <a:solidFill>
                  <a:schemeClr val="dk1"/>
                </a:solidFill>
                <a:latin typeface="Times New Roman"/>
                <a:ea typeface="Times New Roman"/>
              </a:rPr>
              <a:t>(2026-27)</a:t>
            </a:r>
            <a:endParaRPr lang="en-IN" sz="2000" b="0" strike="noStrike" spc="-1">
              <a:solidFill>
                <a:srgbClr val="000000"/>
              </a:solidFill>
              <a:latin typeface="Arial"/>
            </a:endParaRPr>
          </a:p>
        </p:txBody>
      </p:sp>
      <p:sp>
        <p:nvSpPr>
          <p:cNvPr id="13" name="Subtitle 2"/>
          <p:cNvSpPr/>
          <p:nvPr/>
        </p:nvSpPr>
        <p:spPr>
          <a:xfrm>
            <a:off x="4623480" y="3535920"/>
            <a:ext cx="4083120" cy="190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r" defTabSz="914400">
              <a:lnSpc>
                <a:spcPct val="100000"/>
              </a:lnSpc>
              <a:spcBef>
                <a:spcPts val="400"/>
              </a:spcBef>
              <a:tabLst>
                <a:tab pos="0" algn="l"/>
              </a:tabLst>
            </a:pPr>
            <a:r>
              <a:rPr lang="en-US" sz="2000" b="1" strike="noStrike" spc="-1">
                <a:solidFill>
                  <a:schemeClr val="dk1"/>
                </a:solidFill>
                <a:latin typeface="Times New Roman"/>
                <a:ea typeface="Times New Roman"/>
              </a:rPr>
              <a:t>Submitted by:</a:t>
            </a:r>
            <a:endParaRPr lang="en-IN" sz="2000" b="0" strike="noStrike" spc="-1">
              <a:solidFill>
                <a:srgbClr val="000000"/>
              </a:solidFill>
              <a:latin typeface="Arial"/>
            </a:endParaRPr>
          </a:p>
          <a:p>
            <a:pPr algn="r" defTabSz="914400">
              <a:lnSpc>
                <a:spcPct val="100000"/>
              </a:lnSpc>
              <a:spcBef>
                <a:spcPts val="360"/>
              </a:spcBef>
              <a:tabLst>
                <a:tab pos="0" algn="l"/>
              </a:tabLst>
            </a:pPr>
            <a:r>
              <a:rPr lang="en-US" sz="1800" b="0" strike="noStrike" spc="-1">
                <a:solidFill>
                  <a:srgbClr val="222222"/>
                </a:solidFill>
                <a:latin typeface="Times New Roman"/>
                <a:ea typeface="Times New Roman"/>
              </a:rPr>
              <a:t>Abhay Chauhan (2301430100004)</a:t>
            </a:r>
            <a:endParaRPr lang="en-IN" sz="1800" b="0" strike="noStrike" spc="-1">
              <a:solidFill>
                <a:srgbClr val="000000"/>
              </a:solidFill>
              <a:latin typeface="Arial"/>
            </a:endParaRPr>
          </a:p>
          <a:p>
            <a:pPr algn="r" defTabSz="914400">
              <a:lnSpc>
                <a:spcPct val="100000"/>
              </a:lnSpc>
              <a:spcBef>
                <a:spcPts val="360"/>
              </a:spcBef>
              <a:tabLst>
                <a:tab pos="0" algn="l"/>
              </a:tabLst>
            </a:pPr>
            <a:r>
              <a:rPr lang="en-US" sz="1800" b="0" strike="noStrike" spc="-1">
                <a:solidFill>
                  <a:srgbClr val="222222"/>
                </a:solidFill>
                <a:latin typeface="Times New Roman"/>
                <a:ea typeface="Times New Roman"/>
              </a:rPr>
              <a:t>Aditya Sharma (2301430100015)</a:t>
            </a:r>
            <a:endParaRPr lang="en-IN" sz="1800" b="0" strike="noStrike" spc="-1">
              <a:solidFill>
                <a:srgbClr val="000000"/>
              </a:solidFill>
              <a:latin typeface="Arial"/>
            </a:endParaRPr>
          </a:p>
          <a:p>
            <a:pPr algn="r" defTabSz="914400">
              <a:lnSpc>
                <a:spcPct val="100000"/>
              </a:lnSpc>
              <a:spcBef>
                <a:spcPts val="360"/>
              </a:spcBef>
              <a:tabLst>
                <a:tab pos="0" algn="l"/>
              </a:tabLst>
            </a:pPr>
            <a:r>
              <a:rPr lang="en-US" sz="1800" b="0" strike="noStrike" spc="-1">
                <a:solidFill>
                  <a:srgbClr val="222222"/>
                </a:solidFill>
                <a:latin typeface="Times New Roman"/>
                <a:ea typeface="Times New Roman"/>
              </a:rPr>
              <a:t>Avnish Kumar (2301430100065)</a:t>
            </a:r>
            <a:r>
              <a:rPr lang="en-US" sz="1800" b="0" strike="noStrike" spc="-1">
                <a:solidFill>
                  <a:schemeClr val="dk1"/>
                </a:solidFill>
                <a:latin typeface="Calibri"/>
                <a:ea typeface="Times New Roman"/>
              </a:rPr>
              <a:t>                                                                     </a:t>
            </a:r>
            <a:r>
              <a:rPr lang="en-US" sz="1800" b="0" strike="noStrike" spc="-1">
                <a:solidFill>
                  <a:srgbClr val="222222"/>
                </a:solidFill>
                <a:latin typeface="Times New Roman"/>
                <a:ea typeface="Times New Roman"/>
              </a:rPr>
              <a:t>Krishti Mittal (2301430100123)</a:t>
            </a:r>
            <a:endParaRPr lang="en-IN" sz="1800" b="0" strike="noStrike" spc="-1">
              <a:solidFill>
                <a:srgbClr val="000000"/>
              </a:solidFill>
              <a:latin typeface="Arial"/>
            </a:endParaRPr>
          </a:p>
          <a:p>
            <a:pPr defTabSz="914400">
              <a:lnSpc>
                <a:spcPct val="100000"/>
              </a:lnSpc>
              <a:spcBef>
                <a:spcPts val="400"/>
              </a:spcBef>
              <a:tabLst>
                <a:tab pos="0" algn="l"/>
              </a:tabLst>
            </a:pPr>
            <a:endParaRPr lang="en-IN" sz="2000" b="0" strike="noStrike" spc="-1">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Introduction</a:t>
            </a:r>
            <a:endParaRPr lang="en-IN" sz="4400" b="0" strike="noStrike" spc="-1">
              <a:solidFill>
                <a:srgbClr val="000000"/>
              </a:solidFill>
              <a:latin typeface="Arial"/>
            </a:endParaRPr>
          </a:p>
        </p:txBody>
      </p:sp>
      <p:sp>
        <p:nvSpPr>
          <p:cNvPr id="15" name="Shape 1"/>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16" name="Text 2"/>
          <p:cNvSpPr/>
          <p:nvPr/>
        </p:nvSpPr>
        <p:spPr>
          <a:xfrm>
            <a:off x="457200" y="1188720"/>
            <a:ext cx="8229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strike="noStrike" spc="-1">
                <a:solidFill>
                  <a:srgbClr val="000000"/>
                </a:solidFill>
                <a:latin typeface="Times New Roman"/>
                <a:ea typeface="Times New Roman"/>
              </a:rPr>
              <a:t>Background</a:t>
            </a:r>
            <a:endParaRPr lang="en-IN" sz="1800" b="0" strike="noStrike" spc="-1">
              <a:solidFill>
                <a:srgbClr val="000000"/>
              </a:solidFill>
              <a:latin typeface="Arial"/>
            </a:endParaRPr>
          </a:p>
        </p:txBody>
      </p:sp>
      <p:sp>
        <p:nvSpPr>
          <p:cNvPr id="17" name="Shape 3"/>
          <p:cNvSpPr/>
          <p:nvPr/>
        </p:nvSpPr>
        <p:spPr>
          <a:xfrm>
            <a:off x="457200" y="1517760"/>
            <a:ext cx="8229600" cy="360"/>
          </a:xfrm>
          <a:prstGeom prst="line">
            <a:avLst/>
          </a:prstGeom>
          <a:ln w="12700">
            <a:solidFill>
              <a:srgbClr val="BFBFBF"/>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18" name="Text 4"/>
          <p:cNvSpPr/>
          <p:nvPr/>
        </p:nvSpPr>
        <p:spPr>
          <a:xfrm>
            <a:off x="502920" y="1609200"/>
            <a:ext cx="813780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algn="just" defTabSz="914400">
              <a:lnSpc>
                <a:spcPct val="100000"/>
              </a:lnSpc>
              <a:spcAft>
                <a:spcPts val="601"/>
              </a:spcAft>
              <a:buClr>
                <a:srgbClr val="000000"/>
              </a:buClr>
              <a:buFont typeface="OpenSymbol"/>
              <a:buChar char="▪"/>
            </a:pPr>
            <a:r>
              <a:rPr lang="en-IN" sz="1600" b="0" strike="noStrike" spc="-1" dirty="0">
                <a:solidFill>
                  <a:schemeClr val="dk1"/>
                </a:solidFill>
                <a:latin typeface="Times New Roman"/>
              </a:rPr>
              <a:t>Rapid adoption of AI agents and Large Language Models (LLMs) across industries. </a:t>
            </a:r>
            <a:endParaRPr lang="en-IN" sz="1600" b="0" strike="noStrike" spc="-1" dirty="0">
              <a:solidFill>
                <a:srgbClr val="000000"/>
              </a:solidFill>
              <a:latin typeface="Arial"/>
            </a:endParaRPr>
          </a:p>
          <a:p>
            <a:pPr marL="177840" indent="-177840" algn="just" defTabSz="914400">
              <a:lnSpc>
                <a:spcPct val="100000"/>
              </a:lnSpc>
              <a:spcAft>
                <a:spcPts val="601"/>
              </a:spcAft>
              <a:buClr>
                <a:srgbClr val="000000"/>
              </a:buClr>
              <a:buFont typeface="OpenSymbol"/>
              <a:buChar char="▪"/>
            </a:pPr>
            <a:r>
              <a:rPr lang="en-IN" sz="1600" b="0" strike="noStrike" spc="-1" dirty="0">
                <a:solidFill>
                  <a:schemeClr val="dk1"/>
                </a:solidFill>
                <a:latin typeface="Times New Roman"/>
              </a:rPr>
              <a:t>Autonomous AI agents interact with APIs, databases, external tools, and enterprise systems. </a:t>
            </a:r>
            <a:endParaRPr lang="en-IN" sz="1600" b="0" strike="noStrike" spc="-1" dirty="0">
              <a:solidFill>
                <a:srgbClr val="000000"/>
              </a:solidFill>
              <a:latin typeface="Arial"/>
            </a:endParaRPr>
          </a:p>
          <a:p>
            <a:pPr marL="177840" indent="-177840" algn="just" defTabSz="914400">
              <a:lnSpc>
                <a:spcPct val="100000"/>
              </a:lnSpc>
              <a:spcAft>
                <a:spcPts val="601"/>
              </a:spcAft>
              <a:buClr>
                <a:srgbClr val="000000"/>
              </a:buClr>
              <a:buFont typeface="OpenSymbol"/>
              <a:buChar char="▪"/>
            </a:pPr>
            <a:r>
              <a:rPr lang="en-IN" sz="1600" b="0" strike="noStrike" spc="-1" dirty="0">
                <a:solidFill>
                  <a:schemeClr val="dk1"/>
                </a:solidFill>
                <a:latin typeface="Times New Roman"/>
              </a:rPr>
              <a:t>Their increasing autonomy introduces new cybersecurity and governance challenges.</a:t>
            </a:r>
          </a:p>
          <a:p>
            <a:pPr marL="177840" indent="-177840" algn="just" defTabSz="914400">
              <a:lnSpc>
                <a:spcPct val="100000"/>
              </a:lnSpc>
              <a:spcAft>
                <a:spcPts val="601"/>
              </a:spcAft>
              <a:buClr>
                <a:srgbClr val="000000"/>
              </a:buClr>
              <a:buFont typeface="OpenSymbol"/>
              <a:buChar char="▪"/>
            </a:pPr>
            <a:endParaRPr lang="en-IN" sz="1600" spc="-1" dirty="0">
              <a:solidFill>
                <a:schemeClr val="dk1"/>
              </a:solidFill>
              <a:latin typeface="Times New Roman"/>
            </a:endParaRPr>
          </a:p>
          <a:p>
            <a:pPr marL="177840" indent="-177840" algn="just" defTabSz="914400">
              <a:lnSpc>
                <a:spcPct val="100000"/>
              </a:lnSpc>
              <a:spcAft>
                <a:spcPts val="601"/>
              </a:spcAft>
              <a:buClr>
                <a:srgbClr val="000000"/>
              </a:buClr>
              <a:buFont typeface="OpenSymbol"/>
              <a:buChar char="▪"/>
            </a:pPr>
            <a:endParaRPr lang="en-IN" sz="1600" b="0" strike="noStrike" spc="-1" dirty="0">
              <a:solidFill>
                <a:schemeClr val="dk1"/>
              </a:solidFill>
              <a:latin typeface="Times New Roman"/>
            </a:endParaRPr>
          </a:p>
        </p:txBody>
      </p:sp>
      <p:sp>
        <p:nvSpPr>
          <p:cNvPr id="19" name="Text 5"/>
          <p:cNvSpPr/>
          <p:nvPr/>
        </p:nvSpPr>
        <p:spPr>
          <a:xfrm>
            <a:off x="457200" y="3593520"/>
            <a:ext cx="8229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strike="noStrike" spc="-1">
                <a:solidFill>
                  <a:srgbClr val="000000"/>
                </a:solidFill>
                <a:latin typeface="Times New Roman"/>
                <a:ea typeface="Times New Roman"/>
              </a:rPr>
              <a:t>Need of the Project</a:t>
            </a:r>
            <a:endParaRPr lang="en-IN" sz="1800" b="0" strike="noStrike" spc="-1">
              <a:solidFill>
                <a:srgbClr val="000000"/>
              </a:solidFill>
              <a:latin typeface="Arial"/>
            </a:endParaRPr>
          </a:p>
        </p:txBody>
      </p:sp>
      <p:sp>
        <p:nvSpPr>
          <p:cNvPr id="20" name="Shape 6"/>
          <p:cNvSpPr/>
          <p:nvPr/>
        </p:nvSpPr>
        <p:spPr>
          <a:xfrm>
            <a:off x="457200" y="3903840"/>
            <a:ext cx="8229600" cy="360"/>
          </a:xfrm>
          <a:prstGeom prst="line">
            <a:avLst/>
          </a:prstGeom>
          <a:ln w="12700">
            <a:solidFill>
              <a:srgbClr val="BFBFBF"/>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dirty="0">
              <a:solidFill>
                <a:schemeClr val="dk1"/>
              </a:solidFill>
              <a:latin typeface="Calibri"/>
            </a:endParaRPr>
          </a:p>
        </p:txBody>
      </p:sp>
      <p:sp>
        <p:nvSpPr>
          <p:cNvPr id="21" name="Text 7"/>
          <p:cNvSpPr/>
          <p:nvPr/>
        </p:nvSpPr>
        <p:spPr>
          <a:xfrm>
            <a:off x="502920" y="4027680"/>
            <a:ext cx="813780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algn="just" defTabSz="914400">
              <a:lnSpc>
                <a:spcPct val="100000"/>
              </a:lnSpc>
              <a:spcAft>
                <a:spcPts val="601"/>
              </a:spcAft>
              <a:buClr>
                <a:srgbClr val="000000"/>
              </a:buClr>
              <a:buFont typeface="OpenSymbol"/>
              <a:buChar char="▪"/>
            </a:pPr>
            <a:r>
              <a:rPr lang="en-IN" sz="1600" b="0" strike="noStrike" spc="-1" dirty="0">
                <a:solidFill>
                  <a:schemeClr val="dk1"/>
                </a:solidFill>
                <a:latin typeface="Times New Roman"/>
              </a:rPr>
              <a:t>AI agents are vulnerable to prompt injection, jailbreak attacks, and sensitive data leakage. </a:t>
            </a:r>
            <a:endParaRPr lang="en-IN" sz="1600" b="0" strike="noStrike" spc="-1" dirty="0">
              <a:solidFill>
                <a:srgbClr val="000000"/>
              </a:solidFill>
              <a:latin typeface="Arial"/>
            </a:endParaRPr>
          </a:p>
          <a:p>
            <a:pPr marL="177840" indent="-177840" algn="just" defTabSz="914400">
              <a:lnSpc>
                <a:spcPct val="100000"/>
              </a:lnSpc>
              <a:spcAft>
                <a:spcPts val="601"/>
              </a:spcAft>
              <a:buClr>
                <a:srgbClr val="000000"/>
              </a:buClr>
              <a:buFont typeface="OpenSymbol"/>
              <a:buChar char="▪"/>
            </a:pPr>
            <a:r>
              <a:rPr lang="en-IN" sz="1600" b="0" strike="noStrike" spc="-1" dirty="0">
                <a:solidFill>
                  <a:schemeClr val="dk1"/>
                </a:solidFill>
                <a:latin typeface="Times New Roman"/>
              </a:rPr>
              <a:t>Traditional cybersecurity solutions cannot monitor or secure AI reasoning processes. </a:t>
            </a:r>
            <a:endParaRPr lang="en-IN" sz="1600" b="0" strike="noStrike" spc="-1" dirty="0">
              <a:solidFill>
                <a:srgbClr val="000000"/>
              </a:solidFill>
              <a:latin typeface="Arial"/>
            </a:endParaRPr>
          </a:p>
          <a:p>
            <a:pPr marL="177840" indent="-177840" algn="just" defTabSz="914400">
              <a:lnSpc>
                <a:spcPct val="100000"/>
              </a:lnSpc>
              <a:spcAft>
                <a:spcPts val="601"/>
              </a:spcAft>
              <a:buClr>
                <a:srgbClr val="000000"/>
              </a:buClr>
              <a:buFont typeface="OpenSymbol"/>
              <a:buChar char="▪"/>
            </a:pPr>
            <a:r>
              <a:rPr lang="en-IN" sz="1600" b="0" strike="noStrike" spc="-1" dirty="0">
                <a:solidFill>
                  <a:schemeClr val="dk1"/>
                </a:solidFill>
                <a:latin typeface="Times New Roman"/>
              </a:rPr>
              <a:t>A dedicated real-time security framework is essential for safe autonomous AI deployment</a:t>
            </a:r>
            <a:r>
              <a:rPr lang="en-US" sz="1600" b="0" strike="noStrike" spc="-1" dirty="0">
                <a:solidFill>
                  <a:srgbClr val="222222"/>
                </a:solidFill>
                <a:latin typeface="Times New Roman"/>
                <a:ea typeface="Times New Roman"/>
              </a:rPr>
              <a:t>.</a:t>
            </a:r>
            <a:endParaRPr lang="en-IN" sz="1600" b="0" strike="noStrike" spc="-1" dirty="0">
              <a:solidFill>
                <a:srgbClr val="000000"/>
              </a:solidFill>
              <a:latin typeface="Arial"/>
            </a:endParaRPr>
          </a:p>
        </p:txBody>
      </p:sp>
      <p:sp>
        <p:nvSpPr>
          <p:cNvPr id="22" name="Text 11"/>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595959"/>
                </a:solidFill>
                <a:latin typeface="Times New Roman"/>
                <a:ea typeface="Times New Roman"/>
              </a:rPr>
              <a:t>[ii]</a:t>
            </a:r>
            <a:endParaRPr lang="en-IN" sz="110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Problem Statement</a:t>
            </a:r>
            <a:endParaRPr lang="en-IN" sz="4400" b="0" strike="noStrike" spc="-1">
              <a:solidFill>
                <a:srgbClr val="000000"/>
              </a:solidFill>
              <a:latin typeface="Arial"/>
            </a:endParaRPr>
          </a:p>
        </p:txBody>
      </p:sp>
      <p:sp>
        <p:nvSpPr>
          <p:cNvPr id="27" name="Shape 1"/>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28" name="Text 7"/>
          <p:cNvSpPr/>
          <p:nvPr/>
        </p:nvSpPr>
        <p:spPr>
          <a:xfrm>
            <a:off x="548640" y="1390680"/>
            <a:ext cx="8137800" cy="146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just" defTabSz="914400">
              <a:lnSpc>
                <a:spcPct val="100000"/>
              </a:lnSpc>
              <a:spcAft>
                <a:spcPts val="601"/>
              </a:spcAft>
            </a:pPr>
            <a:r>
              <a:rPr lang="en-IN" sz="1600" b="0" strike="noStrike" spc="-1">
                <a:solidFill>
                  <a:schemeClr val="dk1"/>
                </a:solidFill>
                <a:latin typeface="Times New Roman"/>
              </a:rPr>
              <a:t>The rapid adoption of autonomous AI agents has introduced security challenges such as prompt injection, jailbreak attacks, unauthorized tool access, and data leakage. Existing security mechanisms are not designed to monitor AI reasoning or enforce runtime protection. Agent Shield AI proposes a dedicated real-time security framework that detects threats, applies policy enforcement, and provides continuous monitoring with explainable security reporting to ensure safe and trustworthy AI operations.</a:t>
            </a:r>
            <a:endParaRPr lang="en-IN" sz="1600" b="0" strike="noStrike" spc="-1">
              <a:solidFill>
                <a:srgbClr val="000000"/>
              </a:solidFill>
              <a:latin typeface="Arial"/>
            </a:endParaRPr>
          </a:p>
        </p:txBody>
      </p:sp>
      <p:sp>
        <p:nvSpPr>
          <p:cNvPr id="29" name="Text 8"/>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595959"/>
                </a:solidFill>
                <a:latin typeface="Times New Roman"/>
                <a:ea typeface="Times New Roman"/>
              </a:rPr>
              <a:t>[iii]</a:t>
            </a:r>
            <a:endParaRPr lang="en-IN" sz="11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Objectives</a:t>
            </a:r>
            <a:endParaRPr lang="en-IN" sz="4400" b="0" strike="noStrike" spc="-1">
              <a:solidFill>
                <a:srgbClr val="000000"/>
              </a:solidFill>
              <a:latin typeface="Arial"/>
            </a:endParaRPr>
          </a:p>
        </p:txBody>
      </p:sp>
      <p:sp>
        <p:nvSpPr>
          <p:cNvPr id="31" name="Shape 1"/>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32" name="Shape 2"/>
          <p:cNvSpPr/>
          <p:nvPr/>
        </p:nvSpPr>
        <p:spPr>
          <a:xfrm>
            <a:off x="640080" y="1508760"/>
            <a:ext cx="566640" cy="566640"/>
          </a:xfrm>
          <a:prstGeom prst="ellipse">
            <a:avLst/>
          </a:prstGeom>
          <a:solidFill>
            <a:srgbClr val="FFFFFF"/>
          </a:solidFill>
          <a:ln w="1905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strike="noStrike" spc="-1">
              <a:solidFill>
                <a:schemeClr val="dk1"/>
              </a:solidFill>
              <a:latin typeface="Calibri"/>
            </a:endParaRPr>
          </a:p>
        </p:txBody>
      </p:sp>
      <p:sp>
        <p:nvSpPr>
          <p:cNvPr id="33" name="Text 3"/>
          <p:cNvSpPr/>
          <p:nvPr/>
        </p:nvSpPr>
        <p:spPr>
          <a:xfrm>
            <a:off x="640080" y="150876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strike="noStrike" spc="-1">
                <a:solidFill>
                  <a:srgbClr val="000000"/>
                </a:solidFill>
                <a:latin typeface="Times New Roman"/>
                <a:ea typeface="Times New Roman"/>
              </a:rPr>
              <a:t>1</a:t>
            </a:r>
            <a:endParaRPr lang="en-IN" sz="2200" b="0" strike="noStrike" spc="-1">
              <a:solidFill>
                <a:srgbClr val="000000"/>
              </a:solidFill>
              <a:latin typeface="Arial"/>
            </a:endParaRPr>
          </a:p>
        </p:txBody>
      </p:sp>
      <p:sp>
        <p:nvSpPr>
          <p:cNvPr id="34" name="Text 4"/>
          <p:cNvSpPr/>
          <p:nvPr/>
        </p:nvSpPr>
        <p:spPr>
          <a:xfrm>
            <a:off x="1508760" y="1398960"/>
            <a:ext cx="717768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just" defTabSz="914400">
              <a:lnSpc>
                <a:spcPct val="100000"/>
              </a:lnSpc>
            </a:pPr>
            <a:r>
              <a:rPr lang="en-IN" sz="1600" b="0" strike="noStrike" spc="-1">
                <a:solidFill>
                  <a:schemeClr val="dk1"/>
                </a:solidFill>
                <a:latin typeface="Times New Roman"/>
              </a:rPr>
              <a:t>Develop a real-time AI security framework to continuously monitor autonomous AI agents and their interactions.</a:t>
            </a:r>
            <a:endParaRPr lang="en-IN" sz="1600" b="0" strike="noStrike" spc="-1">
              <a:solidFill>
                <a:srgbClr val="000000"/>
              </a:solidFill>
              <a:latin typeface="Arial"/>
            </a:endParaRPr>
          </a:p>
        </p:txBody>
      </p:sp>
      <p:sp>
        <p:nvSpPr>
          <p:cNvPr id="35" name="Shape 5"/>
          <p:cNvSpPr/>
          <p:nvPr/>
        </p:nvSpPr>
        <p:spPr>
          <a:xfrm>
            <a:off x="640080" y="2679120"/>
            <a:ext cx="566640" cy="566640"/>
          </a:xfrm>
          <a:prstGeom prst="ellipse">
            <a:avLst/>
          </a:prstGeom>
          <a:solidFill>
            <a:srgbClr val="FFFFFF"/>
          </a:solidFill>
          <a:ln w="1905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strike="noStrike" spc="-1">
              <a:solidFill>
                <a:schemeClr val="dk1"/>
              </a:solidFill>
              <a:latin typeface="Calibri"/>
            </a:endParaRPr>
          </a:p>
        </p:txBody>
      </p:sp>
      <p:sp>
        <p:nvSpPr>
          <p:cNvPr id="36" name="Text 6"/>
          <p:cNvSpPr/>
          <p:nvPr/>
        </p:nvSpPr>
        <p:spPr>
          <a:xfrm>
            <a:off x="640080" y="26791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strike="noStrike" spc="-1">
                <a:solidFill>
                  <a:srgbClr val="000000"/>
                </a:solidFill>
                <a:latin typeface="Times New Roman"/>
                <a:ea typeface="Times New Roman"/>
              </a:rPr>
              <a:t>2</a:t>
            </a:r>
            <a:endParaRPr lang="en-IN" sz="2200" b="0" strike="noStrike" spc="-1">
              <a:solidFill>
                <a:srgbClr val="000000"/>
              </a:solidFill>
              <a:latin typeface="Arial"/>
            </a:endParaRPr>
          </a:p>
        </p:txBody>
      </p:sp>
      <p:sp>
        <p:nvSpPr>
          <p:cNvPr id="37" name="Text 7"/>
          <p:cNvSpPr/>
          <p:nvPr/>
        </p:nvSpPr>
        <p:spPr>
          <a:xfrm>
            <a:off x="1508760" y="2569320"/>
            <a:ext cx="717768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just"/>
            <a:r>
              <a:rPr lang="en-IN" sz="1600" b="0" strike="noStrike" spc="-1">
                <a:solidFill>
                  <a:schemeClr val="dk1"/>
                </a:solidFill>
                <a:latin typeface="Times New Roman"/>
              </a:rPr>
              <a:t>Detect prompt injection, jailbreak attempts, and other malicious inputs before they impact AI decision-making.</a:t>
            </a:r>
            <a:endParaRPr lang="en-IN" sz="1600" spc="-1" dirty="0">
              <a:solidFill>
                <a:srgbClr val="000000"/>
              </a:solidFill>
              <a:latin typeface="Arial"/>
            </a:endParaRPr>
          </a:p>
        </p:txBody>
      </p:sp>
      <p:sp>
        <p:nvSpPr>
          <p:cNvPr id="38" name="Shape 8"/>
          <p:cNvSpPr/>
          <p:nvPr/>
        </p:nvSpPr>
        <p:spPr>
          <a:xfrm>
            <a:off x="640080" y="3849480"/>
            <a:ext cx="566640" cy="566640"/>
          </a:xfrm>
          <a:prstGeom prst="ellipse">
            <a:avLst/>
          </a:prstGeom>
          <a:solidFill>
            <a:srgbClr val="FFFFFF"/>
          </a:solidFill>
          <a:ln w="1905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strike="noStrike" spc="-1">
              <a:solidFill>
                <a:schemeClr val="dk1"/>
              </a:solidFill>
              <a:latin typeface="Calibri"/>
            </a:endParaRPr>
          </a:p>
        </p:txBody>
      </p:sp>
      <p:sp>
        <p:nvSpPr>
          <p:cNvPr id="39" name="Text 9"/>
          <p:cNvSpPr/>
          <p:nvPr/>
        </p:nvSpPr>
        <p:spPr>
          <a:xfrm>
            <a:off x="640080" y="384948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strike="noStrike" spc="-1">
                <a:solidFill>
                  <a:srgbClr val="000000"/>
                </a:solidFill>
                <a:latin typeface="Times New Roman"/>
                <a:ea typeface="Times New Roman"/>
              </a:rPr>
              <a:t>3</a:t>
            </a:r>
            <a:endParaRPr lang="en-IN" sz="2200" b="0" strike="noStrike" spc="-1">
              <a:solidFill>
                <a:srgbClr val="000000"/>
              </a:solidFill>
              <a:latin typeface="Arial"/>
            </a:endParaRPr>
          </a:p>
        </p:txBody>
      </p:sp>
      <p:sp>
        <p:nvSpPr>
          <p:cNvPr id="40" name="Text 10"/>
          <p:cNvSpPr/>
          <p:nvPr/>
        </p:nvSpPr>
        <p:spPr>
          <a:xfrm>
            <a:off x="1508760" y="3849480"/>
            <a:ext cx="7177680" cy="6762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just"/>
            <a:r>
              <a:rPr lang="en-IN" sz="1600" b="0" strike="noStrike" spc="-1" dirty="0">
                <a:solidFill>
                  <a:schemeClr val="dk1"/>
                </a:solidFill>
                <a:latin typeface="Times New Roman"/>
              </a:rPr>
              <a:t>Enforce security policies by preventing unauthorized tool execution and protecting sensitive organizational data</a:t>
            </a:r>
            <a:endParaRPr lang="en-IN" sz="1600" dirty="0"/>
          </a:p>
          <a:p>
            <a:pPr algn="just" defTabSz="914400">
              <a:lnSpc>
                <a:spcPct val="100000"/>
              </a:lnSpc>
            </a:pPr>
            <a:r>
              <a:rPr lang="en-IN" sz="1600" b="0" strike="noStrike" spc="-1" dirty="0">
                <a:solidFill>
                  <a:schemeClr val="dk1"/>
                </a:solidFill>
                <a:latin typeface="Times New Roman"/>
              </a:rPr>
              <a:t>.</a:t>
            </a:r>
            <a:endParaRPr lang="en-IN" sz="1600" b="0" strike="noStrike" spc="-1" dirty="0">
              <a:solidFill>
                <a:srgbClr val="000000"/>
              </a:solidFill>
              <a:latin typeface="Arial"/>
            </a:endParaRPr>
          </a:p>
        </p:txBody>
      </p:sp>
      <p:sp>
        <p:nvSpPr>
          <p:cNvPr id="41" name="Shape 11"/>
          <p:cNvSpPr/>
          <p:nvPr/>
        </p:nvSpPr>
        <p:spPr>
          <a:xfrm>
            <a:off x="640080" y="5020200"/>
            <a:ext cx="566640" cy="566640"/>
          </a:xfrm>
          <a:prstGeom prst="ellipse">
            <a:avLst/>
          </a:prstGeom>
          <a:solidFill>
            <a:srgbClr val="FFFFFF"/>
          </a:solidFill>
          <a:ln w="1905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strike="noStrike" spc="-1">
              <a:solidFill>
                <a:schemeClr val="dk1"/>
              </a:solidFill>
              <a:latin typeface="Calibri"/>
            </a:endParaRPr>
          </a:p>
        </p:txBody>
      </p:sp>
      <p:sp>
        <p:nvSpPr>
          <p:cNvPr id="42" name="Text 12"/>
          <p:cNvSpPr/>
          <p:nvPr/>
        </p:nvSpPr>
        <p:spPr>
          <a:xfrm>
            <a:off x="640080" y="502020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strike="noStrike" spc="-1">
                <a:solidFill>
                  <a:srgbClr val="000000"/>
                </a:solidFill>
                <a:latin typeface="Times New Roman"/>
                <a:ea typeface="Times New Roman"/>
              </a:rPr>
              <a:t>4</a:t>
            </a:r>
            <a:endParaRPr lang="en-IN" sz="2200" b="0" strike="noStrike" spc="-1">
              <a:solidFill>
                <a:srgbClr val="000000"/>
              </a:solidFill>
              <a:latin typeface="Arial"/>
            </a:endParaRPr>
          </a:p>
        </p:txBody>
      </p:sp>
      <p:sp>
        <p:nvSpPr>
          <p:cNvPr id="43" name="Text 13"/>
          <p:cNvSpPr/>
          <p:nvPr/>
        </p:nvSpPr>
        <p:spPr>
          <a:xfrm>
            <a:off x="1508760" y="4910400"/>
            <a:ext cx="717768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just" defTabSz="914400">
              <a:lnSpc>
                <a:spcPct val="100000"/>
              </a:lnSpc>
            </a:pPr>
            <a:r>
              <a:rPr lang="en-IN" sz="1600" b="0" strike="noStrike" spc="-1">
                <a:solidFill>
                  <a:schemeClr val="dk1"/>
                </a:solidFill>
                <a:latin typeface="Times New Roman"/>
              </a:rPr>
              <a:t>Generate explainable security reports, audit logs, and real-time alerts to improve AI governance and compliance.</a:t>
            </a:r>
            <a:endParaRPr lang="en-IN" sz="1600" b="0" strike="noStrike" spc="-1">
              <a:solidFill>
                <a:srgbClr val="000000"/>
              </a:solidFill>
              <a:latin typeface="Arial"/>
            </a:endParaRPr>
          </a:p>
        </p:txBody>
      </p:sp>
      <p:sp>
        <p:nvSpPr>
          <p:cNvPr id="44" name="Text 14"/>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595959"/>
                </a:solidFill>
                <a:latin typeface="Times New Roman"/>
                <a:ea typeface="Times New Roman"/>
              </a:rPr>
              <a:t>[iv]</a:t>
            </a:r>
            <a:endParaRPr lang="en-IN" sz="1100" b="0" strike="noStrike"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Literature Survey</a:t>
            </a:r>
            <a:endParaRPr lang="en-IN" sz="4400" b="0" strike="noStrike" spc="-1">
              <a:solidFill>
                <a:srgbClr val="000000"/>
              </a:solidFill>
              <a:latin typeface="Arial"/>
            </a:endParaRPr>
          </a:p>
        </p:txBody>
      </p:sp>
      <p:sp>
        <p:nvSpPr>
          <p:cNvPr id="46" name="Shape 1"/>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graphicFrame>
        <p:nvGraphicFramePr>
          <p:cNvPr id="47" name="Table 0"/>
          <p:cNvGraphicFramePr/>
          <p:nvPr>
            <p:extLst>
              <p:ext uri="{D42A27DB-BD31-4B8C-83A1-F6EECF244321}">
                <p14:modId xmlns:p14="http://schemas.microsoft.com/office/powerpoint/2010/main" val="2754932396"/>
              </p:ext>
            </p:extLst>
          </p:nvPr>
        </p:nvGraphicFramePr>
        <p:xfrm>
          <a:off x="476640" y="1188720"/>
          <a:ext cx="8299440" cy="4449360"/>
        </p:xfrm>
        <a:graphic>
          <a:graphicData uri="http://schemas.openxmlformats.org/drawingml/2006/table">
            <a:tbl>
              <a:tblPr>
                <a:tableStyleId>{2D5ABB26-0587-4C30-8999-92F81FD0307C}</a:tableStyleId>
              </a:tblPr>
              <a:tblGrid>
                <a:gridCol w="2291040">
                  <a:extLst>
                    <a:ext uri="{9D8B030D-6E8A-4147-A177-3AD203B41FA5}">
                      <a16:colId xmlns:a16="http://schemas.microsoft.com/office/drawing/2014/main" val="20000"/>
                    </a:ext>
                  </a:extLst>
                </a:gridCol>
                <a:gridCol w="1663920">
                  <a:extLst>
                    <a:ext uri="{9D8B030D-6E8A-4147-A177-3AD203B41FA5}">
                      <a16:colId xmlns:a16="http://schemas.microsoft.com/office/drawing/2014/main" val="20001"/>
                    </a:ext>
                  </a:extLst>
                </a:gridCol>
                <a:gridCol w="4344480">
                  <a:extLst>
                    <a:ext uri="{9D8B030D-6E8A-4147-A177-3AD203B41FA5}">
                      <a16:colId xmlns:a16="http://schemas.microsoft.com/office/drawing/2014/main" val="20002"/>
                    </a:ext>
                  </a:extLst>
                </a:gridCol>
              </a:tblGrid>
              <a:tr h="853200">
                <a:tc>
                  <a:txBody>
                    <a:bodyPr/>
                    <a:lstStyle/>
                    <a:p>
                      <a:pPr algn="just" defTabSz="457200">
                        <a:lnSpc>
                          <a:spcPct val="100000"/>
                        </a:lnSpc>
                        <a:tabLst>
                          <a:tab pos="0" algn="l"/>
                        </a:tabLst>
                      </a:pPr>
                      <a:r>
                        <a:rPr lang="en-US" sz="1800" b="1" strike="noStrike" spc="-1" dirty="0">
                          <a:solidFill>
                            <a:srgbClr val="222222"/>
                          </a:solidFill>
                        </a:rPr>
                        <a:t>Title</a:t>
                      </a:r>
                      <a:endParaRPr lang="en-IN" sz="1800" b="0" strike="noStrike" spc="-1" dirty="0">
                        <a:solidFill>
                          <a:srgbClr val="000000"/>
                        </a:solidFill>
                        <a:latin typeface="Times New Roman"/>
                      </a:endParaRPr>
                    </a:p>
                  </a:txBody>
                  <a:tcPr marL="50760" marR="50760" anchor="ctr"/>
                </a:tc>
                <a:tc>
                  <a:txBody>
                    <a:bodyPr/>
                    <a:lstStyle/>
                    <a:p>
                      <a:pPr algn="just" defTabSz="457200">
                        <a:lnSpc>
                          <a:spcPct val="100000"/>
                        </a:lnSpc>
                        <a:tabLst>
                          <a:tab pos="0" algn="l"/>
                        </a:tabLst>
                      </a:pPr>
                      <a:r>
                        <a:rPr lang="en-US" sz="1800" b="1" strike="noStrike" spc="-1" dirty="0">
                          <a:solidFill>
                            <a:srgbClr val="222222"/>
                          </a:solidFill>
                        </a:rPr>
                        <a:t>Source</a:t>
                      </a:r>
                      <a:endParaRPr lang="en-IN" sz="1800" b="0" strike="noStrike" spc="-1" dirty="0">
                        <a:solidFill>
                          <a:srgbClr val="000000"/>
                        </a:solidFill>
                        <a:latin typeface="Times New Roman"/>
                      </a:endParaRPr>
                    </a:p>
                  </a:txBody>
                  <a:tcPr marL="50760" marR="50760" anchor="ctr"/>
                </a:tc>
                <a:tc>
                  <a:txBody>
                    <a:bodyPr/>
                    <a:lstStyle/>
                    <a:p>
                      <a:pPr algn="just" defTabSz="457200">
                        <a:lnSpc>
                          <a:spcPct val="100000"/>
                        </a:lnSpc>
                        <a:tabLst>
                          <a:tab pos="0" algn="l"/>
                        </a:tabLst>
                      </a:pPr>
                      <a:r>
                        <a:rPr lang="en-US" sz="1800" b="1" strike="noStrike" spc="-1" dirty="0">
                          <a:solidFill>
                            <a:srgbClr val="222222"/>
                          </a:solidFill>
                        </a:rPr>
                        <a:t>Key Contribution</a:t>
                      </a:r>
                      <a:endParaRPr lang="en-IN" sz="1800" b="0" strike="noStrike" spc="-1" dirty="0">
                        <a:solidFill>
                          <a:srgbClr val="000000"/>
                        </a:solidFill>
                        <a:latin typeface="Times New Roman"/>
                      </a:endParaRPr>
                    </a:p>
                  </a:txBody>
                  <a:tcPr marL="50760" marR="50760" anchor="ctr"/>
                </a:tc>
                <a:extLst>
                  <a:ext uri="{0D108BD9-81ED-4DB2-BD59-A6C34878D82A}">
                    <a16:rowId xmlns:a16="http://schemas.microsoft.com/office/drawing/2014/main" val="10000"/>
                  </a:ext>
                </a:extLst>
              </a:tr>
              <a:tr h="853200">
                <a:tc>
                  <a:txBody>
                    <a:bodyPr/>
                    <a:lstStyle/>
                    <a:p>
                      <a:pPr algn="just" defTabSz="457200">
                        <a:lnSpc>
                          <a:spcPct val="100000"/>
                        </a:lnSpc>
                        <a:tabLst>
                          <a:tab pos="0" algn="l"/>
                        </a:tabLst>
                      </a:pPr>
                      <a:r>
                        <a:rPr lang="en-IN" sz="1400" b="0" strike="noStrike" spc="-1" dirty="0">
                          <a:solidFill>
                            <a:schemeClr val="dk1"/>
                          </a:solidFill>
                        </a:rPr>
                        <a:t>OWASP Top 10 for LLM</a:t>
                      </a:r>
                      <a:endParaRPr lang="en-IN" sz="1400" b="0" strike="noStrike" spc="-1" dirty="0">
                        <a:solidFill>
                          <a:srgbClr val="000000"/>
                        </a:solidFill>
                      </a:endParaRPr>
                    </a:p>
                    <a:p>
                      <a:pPr algn="just" defTabSz="457200">
                        <a:lnSpc>
                          <a:spcPct val="100000"/>
                        </a:lnSpc>
                        <a:tabLst>
                          <a:tab pos="0" algn="l"/>
                        </a:tabLst>
                      </a:pPr>
                      <a:r>
                        <a:rPr lang="en-IN" sz="1400" b="0" strike="noStrike" spc="-1" dirty="0">
                          <a:solidFill>
                            <a:schemeClr val="dk1"/>
                          </a:solidFill>
                        </a:rPr>
                        <a:t>Applications (2025)</a:t>
                      </a:r>
                      <a:endParaRPr lang="en-IN" sz="1400" b="0" strike="noStrike" spc="-1" dirty="0">
                        <a:solidFill>
                          <a:srgbClr val="000000"/>
                        </a:solidFill>
                        <a:latin typeface="Times New Roman"/>
                      </a:endParaRPr>
                    </a:p>
                  </a:txBody>
                  <a:tcPr marL="50760" marR="50760" anchor="ctr"/>
                </a:tc>
                <a:tc>
                  <a:txBody>
                    <a:bodyPr/>
                    <a:lstStyle/>
                    <a:p>
                      <a:pPr algn="just" defTabSz="457200">
                        <a:lnSpc>
                          <a:spcPct val="100000"/>
                        </a:lnSpc>
                        <a:tabLst>
                          <a:tab pos="0" algn="l"/>
                        </a:tabLst>
                      </a:pPr>
                      <a:r>
                        <a:rPr lang="en-IN" sz="1400" b="0" u="sng" strike="noStrike" spc="-1" dirty="0">
                          <a:solidFill>
                            <a:schemeClr val="dk1"/>
                          </a:solidFill>
                          <a:uFillTx/>
                          <a:hlinkClick r:id="rId2"/>
                        </a:rPr>
                        <a:t>OWASP Foundation</a:t>
                      </a:r>
                      <a:endParaRPr lang="en-IN" sz="1400" b="0" strike="noStrike" spc="-1" dirty="0">
                        <a:solidFill>
                          <a:srgbClr val="000000"/>
                        </a:solidFill>
                        <a:latin typeface="Times New Roman"/>
                      </a:endParaRPr>
                    </a:p>
                  </a:txBody>
                  <a:tcPr marL="50760" marR="50760" anchor="ctr"/>
                </a:tc>
                <a:tc>
                  <a:txBody>
                    <a:bodyPr/>
                    <a:lstStyle/>
                    <a:p>
                      <a:pPr algn="just" defTabSz="457200">
                        <a:lnSpc>
                          <a:spcPct val="100000"/>
                        </a:lnSpc>
                        <a:tabLst>
                          <a:tab pos="0" algn="l"/>
                        </a:tabLst>
                      </a:pPr>
                      <a:r>
                        <a:rPr lang="en-IN" sz="1400" b="0" strike="noStrike" spc="-1">
                          <a:solidFill>
                            <a:schemeClr val="dk1"/>
                          </a:solidFill>
                        </a:rPr>
                        <a:t>Defines major security risks for LLM applications, including prompt injection and insecure output handling. Provides risk taxonomy but no implementation framework.</a:t>
                      </a:r>
                      <a:endParaRPr lang="en-IN" sz="1400" b="0" strike="noStrike" spc="-1">
                        <a:solidFill>
                          <a:srgbClr val="000000"/>
                        </a:solidFill>
                        <a:latin typeface="Times New Roman"/>
                      </a:endParaRPr>
                    </a:p>
                  </a:txBody>
                  <a:tcPr marL="50760" marR="50760" anchor="ctr"/>
                </a:tc>
                <a:extLst>
                  <a:ext uri="{0D108BD9-81ED-4DB2-BD59-A6C34878D82A}">
                    <a16:rowId xmlns:a16="http://schemas.microsoft.com/office/drawing/2014/main" val="10001"/>
                  </a:ext>
                </a:extLst>
              </a:tr>
              <a:tr h="853200">
                <a:tc>
                  <a:txBody>
                    <a:bodyPr/>
                    <a:lstStyle/>
                    <a:p>
                      <a:pPr algn="just" defTabSz="457200">
                        <a:lnSpc>
                          <a:spcPct val="100000"/>
                        </a:lnSpc>
                        <a:tabLst>
                          <a:tab pos="0" algn="l"/>
                        </a:tabLst>
                      </a:pPr>
                      <a:r>
                        <a:rPr lang="en-US" sz="1400" b="0" strike="noStrike" spc="-1">
                          <a:solidFill>
                            <a:schemeClr val="dk1"/>
                          </a:solidFill>
                        </a:rPr>
                        <a:t>DataSentinel: A Game-Theoretic Detection of Prompt Injection Attacks</a:t>
                      </a:r>
                      <a:r>
                        <a:rPr lang="en-IN" sz="1400" b="0" strike="noStrike" spc="-1">
                          <a:solidFill>
                            <a:schemeClr val="dk1"/>
                          </a:solidFill>
                        </a:rPr>
                        <a:t> (2025)</a:t>
                      </a:r>
                      <a:endParaRPr lang="en-IN" sz="1400" b="0" strike="noStrike" spc="-1">
                        <a:solidFill>
                          <a:srgbClr val="000000"/>
                        </a:solidFill>
                        <a:latin typeface="Times New Roman"/>
                      </a:endParaRPr>
                    </a:p>
                  </a:txBody>
                  <a:tcPr marL="50760" marR="50760" anchor="ctr"/>
                </a:tc>
                <a:tc>
                  <a:txBody>
                    <a:bodyPr/>
                    <a:lstStyle/>
                    <a:p>
                      <a:pPr algn="just" defTabSz="457200">
                        <a:lnSpc>
                          <a:spcPct val="100000"/>
                        </a:lnSpc>
                        <a:tabLst>
                          <a:tab pos="0" algn="l"/>
                        </a:tabLst>
                      </a:pPr>
                      <a:r>
                        <a:rPr lang="en-IN" sz="1400" b="0" u="sng" strike="noStrike" spc="-1">
                          <a:solidFill>
                            <a:schemeClr val="dk1"/>
                          </a:solidFill>
                          <a:uFillTx/>
                          <a:hlinkClick r:id="rId3"/>
                        </a:rPr>
                        <a:t>Y. Liu et al., IEEE</a:t>
                      </a:r>
                      <a:endParaRPr lang="en-IN" sz="1400" b="0" strike="noStrike" spc="-1">
                        <a:solidFill>
                          <a:srgbClr val="000000"/>
                        </a:solidFill>
                      </a:endParaRPr>
                    </a:p>
                    <a:p>
                      <a:pPr algn="just" defTabSz="457200">
                        <a:lnSpc>
                          <a:spcPct val="100000"/>
                        </a:lnSpc>
                        <a:tabLst>
                          <a:tab pos="0" algn="l"/>
                        </a:tabLst>
                      </a:pPr>
                      <a:r>
                        <a:rPr lang="en-IN" sz="1400" b="0" u="sng" strike="noStrike" spc="-1">
                          <a:solidFill>
                            <a:schemeClr val="dk1"/>
                          </a:solidFill>
                          <a:uFillTx/>
                          <a:hlinkClick r:id="rId3"/>
                        </a:rPr>
                        <a:t>S&amp;P</a:t>
                      </a:r>
                      <a:endParaRPr lang="en-IN" sz="1400" b="0" strike="noStrike" spc="-1">
                        <a:solidFill>
                          <a:srgbClr val="000000"/>
                        </a:solidFill>
                        <a:latin typeface="Times New Roman"/>
                      </a:endParaRPr>
                    </a:p>
                  </a:txBody>
                  <a:tcPr marL="50760" marR="50760" anchor="ctr"/>
                </a:tc>
                <a:tc>
                  <a:txBody>
                    <a:bodyPr/>
                    <a:lstStyle/>
                    <a:p>
                      <a:pPr algn="just" defTabSz="457200">
                        <a:lnSpc>
                          <a:spcPct val="100000"/>
                        </a:lnSpc>
                        <a:tabLst>
                          <a:tab pos="0" algn="l"/>
                        </a:tabLst>
                      </a:pPr>
                      <a:r>
                        <a:rPr lang="en-IN" sz="1400" b="0" strike="noStrike" spc="-1" dirty="0">
                          <a:solidFill>
                            <a:schemeClr val="dk1"/>
                          </a:solidFill>
                        </a:rPr>
                        <a:t>Introduces a game-theoretic approach for detecting prompt injection attacks. Primarily focuses on threat detection rather than complete AI agent security</a:t>
                      </a:r>
                      <a:r>
                        <a:rPr lang="en-US" sz="1400" b="0" strike="noStrike" spc="-1" dirty="0">
                          <a:solidFill>
                            <a:srgbClr val="222222"/>
                          </a:solidFill>
                        </a:rPr>
                        <a:t>.</a:t>
                      </a:r>
                      <a:endParaRPr lang="en-IN" sz="1400" b="0" strike="noStrike" spc="-1" dirty="0">
                        <a:solidFill>
                          <a:srgbClr val="000000"/>
                        </a:solidFill>
                        <a:latin typeface="Times New Roman"/>
                      </a:endParaRPr>
                    </a:p>
                  </a:txBody>
                  <a:tcPr marL="50760" marR="50760" anchor="ctr"/>
                </a:tc>
                <a:extLst>
                  <a:ext uri="{0D108BD9-81ED-4DB2-BD59-A6C34878D82A}">
                    <a16:rowId xmlns:a16="http://schemas.microsoft.com/office/drawing/2014/main" val="10002"/>
                  </a:ext>
                </a:extLst>
              </a:tr>
              <a:tr h="853200">
                <a:tc>
                  <a:txBody>
                    <a:bodyPr/>
                    <a:lstStyle/>
                    <a:p>
                      <a:pPr algn="just" defTabSz="457200">
                        <a:lnSpc>
                          <a:spcPct val="100000"/>
                        </a:lnSpc>
                        <a:tabLst>
                          <a:tab pos="0" algn="l"/>
                        </a:tabLst>
                      </a:pPr>
                      <a:r>
                        <a:rPr lang="en-US" sz="1400" b="0" strike="noStrike" spc="-1" dirty="0" err="1">
                          <a:solidFill>
                            <a:schemeClr val="dk1"/>
                          </a:solidFill>
                        </a:rPr>
                        <a:t>Progent</a:t>
                      </a:r>
                      <a:r>
                        <a:rPr lang="en-US" sz="1400" b="0" strike="noStrike" spc="-1" dirty="0">
                          <a:solidFill>
                            <a:schemeClr val="dk1"/>
                          </a:solidFill>
                        </a:rPr>
                        <a:t>: Securing AI Agents with Privilege Control (2025)</a:t>
                      </a:r>
                      <a:endParaRPr lang="en-IN" sz="1400" b="0" strike="noStrike" spc="-1" dirty="0">
                        <a:solidFill>
                          <a:srgbClr val="000000"/>
                        </a:solidFill>
                        <a:latin typeface="Times New Roman"/>
                      </a:endParaRPr>
                    </a:p>
                  </a:txBody>
                  <a:tcPr marL="50760" marR="50760" anchor="ctr"/>
                </a:tc>
                <a:tc>
                  <a:txBody>
                    <a:bodyPr/>
                    <a:lstStyle/>
                    <a:p>
                      <a:pPr algn="just" defTabSz="457200">
                        <a:lnSpc>
                          <a:spcPct val="100000"/>
                        </a:lnSpc>
                        <a:tabLst>
                          <a:tab pos="0" algn="l"/>
                        </a:tabLst>
                      </a:pPr>
                      <a:r>
                        <a:rPr lang="en-IN" sz="1800" b="0" strike="noStrike" spc="-1" dirty="0" err="1">
                          <a:solidFill>
                            <a:schemeClr val="dk1"/>
                          </a:solidFill>
                          <a:latin typeface="Times New Roman"/>
                          <a:hlinkClick r:id="rId4"/>
                        </a:rPr>
                        <a:t>arXiv</a:t>
                      </a:r>
                      <a:endParaRPr lang="en-IN" sz="1800" b="0" strike="noStrike" spc="-1" dirty="0">
                        <a:solidFill>
                          <a:srgbClr val="000000"/>
                        </a:solidFill>
                        <a:latin typeface="Times New Roman"/>
                      </a:endParaRPr>
                    </a:p>
                  </a:txBody>
                  <a:tcPr marL="50760" marR="50760" anchor="ctr"/>
                </a:tc>
                <a:tc>
                  <a:txBody>
                    <a:bodyPr/>
                    <a:lstStyle/>
                    <a:p>
                      <a:pPr algn="just" defTabSz="457200">
                        <a:lnSpc>
                          <a:spcPct val="100000"/>
                        </a:lnSpc>
                        <a:tabLst>
                          <a:tab pos="0" algn="l"/>
                        </a:tabLst>
                      </a:pPr>
                      <a:r>
                        <a:rPr lang="en-IN" sz="1400" b="0" strike="noStrike" spc="-1">
                          <a:solidFill>
                            <a:schemeClr val="dk1"/>
                          </a:solidFill>
                        </a:rPr>
                        <a:t>Proposes privilege-based access control to restrict AI agent tool usage. Requires manual policy configuration for enforcement.</a:t>
                      </a:r>
                      <a:endParaRPr lang="en-IN" sz="1400" b="0" strike="noStrike" spc="-1">
                        <a:solidFill>
                          <a:srgbClr val="000000"/>
                        </a:solidFill>
                        <a:latin typeface="Times New Roman"/>
                      </a:endParaRPr>
                    </a:p>
                  </a:txBody>
                  <a:tcPr marL="50760" marR="50760" anchor="ctr"/>
                </a:tc>
                <a:extLst>
                  <a:ext uri="{0D108BD9-81ED-4DB2-BD59-A6C34878D82A}">
                    <a16:rowId xmlns:a16="http://schemas.microsoft.com/office/drawing/2014/main" val="10003"/>
                  </a:ext>
                </a:extLst>
              </a:tr>
              <a:tr h="853200">
                <a:tc>
                  <a:txBody>
                    <a:bodyPr/>
                    <a:lstStyle/>
                    <a:p>
                      <a:pPr algn="just" defTabSz="457200">
                        <a:lnSpc>
                          <a:spcPct val="100000"/>
                        </a:lnSpc>
                        <a:tabLst>
                          <a:tab pos="0" algn="l"/>
                        </a:tabLst>
                      </a:pPr>
                      <a:r>
                        <a:rPr lang="en-US" sz="1400" b="0" strike="noStrike" spc="-1" dirty="0" err="1">
                          <a:solidFill>
                            <a:schemeClr val="dk1"/>
                          </a:solidFill>
                        </a:rPr>
                        <a:t>AgentSpec</a:t>
                      </a:r>
                      <a:r>
                        <a:rPr lang="en-US" sz="1400" b="0" strike="noStrike" spc="-1" dirty="0">
                          <a:solidFill>
                            <a:schemeClr val="dk1"/>
                          </a:solidFill>
                        </a:rPr>
                        <a:t>: Customizable Runtime Enforcement for Safe and Reliable LLM Agents</a:t>
                      </a:r>
                      <a:r>
                        <a:rPr lang="en-IN" sz="1400" b="0" strike="noStrike" spc="-1" dirty="0">
                          <a:solidFill>
                            <a:schemeClr val="dk1"/>
                          </a:solidFill>
                        </a:rPr>
                        <a:t> (2025)</a:t>
                      </a:r>
                      <a:endParaRPr lang="en-IN" sz="1400" b="0" strike="noStrike" spc="-1" dirty="0">
                        <a:solidFill>
                          <a:schemeClr val="dk1"/>
                        </a:solidFill>
                        <a:latin typeface="Times New Roman"/>
                      </a:endParaRPr>
                    </a:p>
                  </a:txBody>
                  <a:tcPr marL="50760" marR="50760" anchor="ctr"/>
                </a:tc>
                <a:tc>
                  <a:txBody>
                    <a:bodyPr/>
                    <a:lstStyle/>
                    <a:p>
                      <a:pPr algn="just" defTabSz="457200">
                        <a:lnSpc>
                          <a:spcPct val="100000"/>
                        </a:lnSpc>
                        <a:tabLst>
                          <a:tab pos="0" algn="l"/>
                        </a:tabLst>
                      </a:pPr>
                      <a:r>
                        <a:rPr lang="en-IN" sz="1400" b="0" strike="noStrike" spc="-1" dirty="0" err="1">
                          <a:solidFill>
                            <a:schemeClr val="dk1"/>
                          </a:solidFill>
                          <a:latin typeface="Times New Roman"/>
                          <a:hlinkClick r:id="rId5"/>
                        </a:rPr>
                        <a:t>arXiv</a:t>
                      </a:r>
                      <a:endParaRPr lang="en-IN" sz="1400" b="0" strike="noStrike" spc="-1" dirty="0">
                        <a:solidFill>
                          <a:srgbClr val="000000"/>
                        </a:solidFill>
                        <a:latin typeface="Times New Roman"/>
                      </a:endParaRPr>
                    </a:p>
                  </a:txBody>
                  <a:tcPr marL="50760" marR="50760" anchor="ctr"/>
                </a:tc>
                <a:tc>
                  <a:txBody>
                    <a:bodyPr/>
                    <a:lstStyle/>
                    <a:p>
                      <a:pPr algn="just" defTabSz="457200">
                        <a:lnSpc>
                          <a:spcPct val="100000"/>
                        </a:lnSpc>
                        <a:tabLst>
                          <a:tab pos="0" algn="l"/>
                        </a:tabLst>
                      </a:pPr>
                      <a:r>
                        <a:rPr lang="en-IN" sz="1400" b="0" strike="noStrike" spc="-1" dirty="0">
                          <a:solidFill>
                            <a:schemeClr val="dk1"/>
                          </a:solidFill>
                        </a:rPr>
                        <a:t>Provides customizable runtime policy enforcement for safe and reliable AI agents. Enterprise-scale deployment remains largely unexplored.</a:t>
                      </a:r>
                      <a:endParaRPr lang="en-IN" sz="1400" b="0" strike="noStrike" spc="-1" dirty="0">
                        <a:solidFill>
                          <a:schemeClr val="dk1"/>
                        </a:solidFill>
                        <a:latin typeface="Times New Roman"/>
                      </a:endParaRPr>
                    </a:p>
                  </a:txBody>
                  <a:tcPr marL="50760" marR="50760" anchor="ctr"/>
                </a:tc>
                <a:extLst>
                  <a:ext uri="{0D108BD9-81ED-4DB2-BD59-A6C34878D82A}">
                    <a16:rowId xmlns:a16="http://schemas.microsoft.com/office/drawing/2014/main" val="10004"/>
                  </a:ext>
                </a:extLst>
              </a:tr>
            </a:tbl>
          </a:graphicData>
        </a:graphic>
      </p:graphicFrame>
      <p:sp>
        <p:nvSpPr>
          <p:cNvPr id="48" name="Text 2"/>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595959"/>
                </a:solidFill>
                <a:latin typeface="Times New Roman"/>
                <a:ea typeface="Times New Roman"/>
              </a:rPr>
              <a:t>[v]</a:t>
            </a:r>
            <a:endParaRPr lang="en-IN" sz="1100" b="0" strike="noStrike" spc="-1">
              <a:solidFill>
                <a:srgbClr val="000000"/>
              </a:solidFill>
              <a:latin typeface="Arial"/>
            </a:endParaRPr>
          </a:p>
        </p:txBody>
      </p:sp>
      <p:graphicFrame>
        <p:nvGraphicFramePr>
          <p:cNvPr id="4" name="Table 3">
            <a:extLst>
              <a:ext uri="{FF2B5EF4-FFF2-40B4-BE49-F238E27FC236}">
                <a16:creationId xmlns:a16="http://schemas.microsoft.com/office/drawing/2014/main" id="{6ACEB5C3-5575-6C07-57DA-DC57EBB58DB7}"/>
              </a:ext>
            </a:extLst>
          </p:cNvPr>
          <p:cNvGraphicFramePr>
            <a:graphicFrameLocks noGrp="1"/>
          </p:cNvGraphicFramePr>
          <p:nvPr>
            <p:extLst>
              <p:ext uri="{D42A27DB-BD31-4B8C-83A1-F6EECF244321}">
                <p14:modId xmlns:p14="http://schemas.microsoft.com/office/powerpoint/2010/main" val="4014947090"/>
              </p:ext>
            </p:extLst>
          </p:nvPr>
        </p:nvGraphicFramePr>
        <p:xfrm>
          <a:off x="476640" y="5638080"/>
          <a:ext cx="8299440" cy="944880"/>
        </p:xfrm>
        <a:graphic>
          <a:graphicData uri="http://schemas.openxmlformats.org/drawingml/2006/table">
            <a:tbl>
              <a:tblPr>
                <a:tableStyleId>{2D5ABB26-0587-4C30-8999-92F81FD0307C}</a:tableStyleId>
              </a:tblPr>
              <a:tblGrid>
                <a:gridCol w="2291040">
                  <a:extLst>
                    <a:ext uri="{9D8B030D-6E8A-4147-A177-3AD203B41FA5}">
                      <a16:colId xmlns:a16="http://schemas.microsoft.com/office/drawing/2014/main" val="3135519792"/>
                    </a:ext>
                  </a:extLst>
                </a:gridCol>
                <a:gridCol w="1663920">
                  <a:extLst>
                    <a:ext uri="{9D8B030D-6E8A-4147-A177-3AD203B41FA5}">
                      <a16:colId xmlns:a16="http://schemas.microsoft.com/office/drawing/2014/main" val="742039232"/>
                    </a:ext>
                  </a:extLst>
                </a:gridCol>
                <a:gridCol w="4344480">
                  <a:extLst>
                    <a:ext uri="{9D8B030D-6E8A-4147-A177-3AD203B41FA5}">
                      <a16:colId xmlns:a16="http://schemas.microsoft.com/office/drawing/2014/main" val="2857659200"/>
                    </a:ext>
                  </a:extLst>
                </a:gridCol>
              </a:tblGrid>
              <a:tr h="853200">
                <a:tc>
                  <a:txBody>
                    <a:bodyPr/>
                    <a:lstStyle/>
                    <a:p>
                      <a:pPr algn="just" defTabSz="457200">
                        <a:lnSpc>
                          <a:spcPct val="100000"/>
                        </a:lnSpc>
                        <a:tabLst>
                          <a:tab pos="0" algn="l"/>
                        </a:tabLst>
                      </a:pPr>
                      <a:r>
                        <a:rPr lang="en-US" sz="1400" b="0" strike="noStrike" spc="-1" dirty="0">
                          <a:solidFill>
                            <a:srgbClr val="000000"/>
                          </a:solidFill>
                          <a:latin typeface="Times New Roman"/>
                        </a:rPr>
                        <a:t>GPT-4 Technical Report</a:t>
                      </a:r>
                    </a:p>
                    <a:p>
                      <a:pPr algn="just" defTabSz="457200">
                        <a:lnSpc>
                          <a:spcPct val="100000"/>
                        </a:lnSpc>
                        <a:tabLst>
                          <a:tab pos="0" algn="l"/>
                        </a:tabLst>
                      </a:pPr>
                      <a:r>
                        <a:rPr lang="en-US" sz="1400" b="0" strike="noStrike" spc="-1" dirty="0">
                          <a:solidFill>
                            <a:srgbClr val="000000"/>
                          </a:solidFill>
                          <a:latin typeface="Times New Roman"/>
                        </a:rPr>
                        <a:t> OpenAI (2023)</a:t>
                      </a:r>
                      <a:endParaRPr lang="en-IN" sz="1400" b="0" strike="noStrike" spc="-1" dirty="0">
                        <a:solidFill>
                          <a:srgbClr val="000000"/>
                        </a:solidFill>
                        <a:latin typeface="Times New Roman"/>
                      </a:endParaRPr>
                    </a:p>
                  </a:txBody>
                  <a:tcPr marL="50760" marR="50760" anchor="ctr"/>
                </a:tc>
                <a:tc>
                  <a:txBody>
                    <a:bodyPr/>
                    <a:lstStyle/>
                    <a:p>
                      <a:pPr algn="just" defTabSz="457200">
                        <a:lnSpc>
                          <a:spcPct val="100000"/>
                        </a:lnSpc>
                        <a:tabLst>
                          <a:tab pos="0" algn="l"/>
                        </a:tabLst>
                      </a:pPr>
                      <a:r>
                        <a:rPr lang="en-IN" sz="1400" b="0" strike="noStrike" spc="-1" dirty="0" err="1">
                          <a:solidFill>
                            <a:srgbClr val="000000"/>
                          </a:solidFill>
                          <a:latin typeface="Times New Roman"/>
                          <a:hlinkClick r:id="rId6"/>
                        </a:rPr>
                        <a:t>arXiv</a:t>
                      </a:r>
                      <a:endParaRPr lang="en-IN" sz="1400" b="0" strike="noStrike" spc="-1" dirty="0">
                        <a:solidFill>
                          <a:srgbClr val="000000"/>
                        </a:solidFill>
                        <a:latin typeface="Times New Roman"/>
                      </a:endParaRPr>
                    </a:p>
                  </a:txBody>
                  <a:tcPr marL="50760" marR="50760" anchor="ctr"/>
                </a:tc>
                <a:tc>
                  <a:txBody>
                    <a:bodyPr/>
                    <a:lstStyle/>
                    <a:p>
                      <a:pPr algn="just" defTabSz="457200">
                        <a:lnSpc>
                          <a:spcPct val="100000"/>
                        </a:lnSpc>
                        <a:tabLst>
                          <a:tab pos="0" algn="l"/>
                        </a:tabLst>
                      </a:pPr>
                      <a:r>
                        <a:rPr lang="en-US" sz="1400" dirty="0"/>
                        <a:t>Presents the architecture overview, capabilities, and safety evaluation of GPT-4, demonstrating significant improvements in reasoning, multimodal understanding, and alignment.</a:t>
                      </a:r>
                      <a:endParaRPr lang="en-IN" sz="1400" b="0" strike="noStrike" spc="-1" dirty="0">
                        <a:solidFill>
                          <a:srgbClr val="000000"/>
                        </a:solidFill>
                        <a:latin typeface="Times New Roman"/>
                      </a:endParaRPr>
                    </a:p>
                  </a:txBody>
                  <a:tcPr marL="50760" marR="50760" anchor="ctr"/>
                </a:tc>
                <a:extLst>
                  <a:ext uri="{0D108BD9-81ED-4DB2-BD59-A6C34878D82A}">
                    <a16:rowId xmlns:a16="http://schemas.microsoft.com/office/drawing/2014/main" val="382820188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Research Gap</a:t>
            </a:r>
            <a:endParaRPr lang="en-IN" sz="4400" b="0" strike="noStrike" spc="-1">
              <a:solidFill>
                <a:srgbClr val="000000"/>
              </a:solidFill>
              <a:latin typeface="Arial"/>
            </a:endParaRPr>
          </a:p>
        </p:txBody>
      </p:sp>
      <p:sp>
        <p:nvSpPr>
          <p:cNvPr id="50" name="Shape 1"/>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51" name="Text 2"/>
          <p:cNvSpPr/>
          <p:nvPr/>
        </p:nvSpPr>
        <p:spPr>
          <a:xfrm>
            <a:off x="548640" y="1371600"/>
            <a:ext cx="8046360" cy="457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just" defTabSz="914400">
              <a:lnSpc>
                <a:spcPct val="100000"/>
              </a:lnSpc>
            </a:pPr>
            <a:r>
              <a:rPr lang="en-IN" sz="1600" b="0" strike="noStrike" spc="-1">
                <a:solidFill>
                  <a:schemeClr val="dk1"/>
                </a:solidFill>
                <a:latin typeface="Times New Roman"/>
              </a:rPr>
              <a:t>Current AI security solutions address individual threats such as prompt injection or access control, but they lack a unified framework that ensures continuous monitoring, runtime policy enforcement, and explainable governance for autonomous AI agents.</a:t>
            </a:r>
            <a:endParaRPr lang="en-IN" sz="1600" b="0" strike="noStrike" spc="-1">
              <a:solidFill>
                <a:srgbClr val="000000"/>
              </a:solidFill>
              <a:latin typeface="Arial"/>
            </a:endParaRPr>
          </a:p>
          <a:p>
            <a:pPr algn="just" defTabSz="914400">
              <a:lnSpc>
                <a:spcPct val="100000"/>
              </a:lnSpc>
            </a:pPr>
            <a:endParaRPr lang="en-IN" sz="1600" b="0" strike="noStrike" spc="-1">
              <a:solidFill>
                <a:srgbClr val="000000"/>
              </a:solidFill>
              <a:latin typeface="Arial"/>
            </a:endParaRPr>
          </a:p>
          <a:p>
            <a:pPr marL="285840" indent="-285840" algn="just" defTabSz="914400">
              <a:lnSpc>
                <a:spcPct val="100000"/>
              </a:lnSpc>
              <a:buClr>
                <a:srgbClr val="000000"/>
              </a:buClr>
              <a:buFont typeface="Wingdings" charset="2"/>
              <a:buChar char=""/>
            </a:pPr>
            <a:r>
              <a:rPr lang="en-IN" sz="1600" b="0" strike="noStrike" spc="-1">
                <a:solidFill>
                  <a:schemeClr val="dk1"/>
                </a:solidFill>
                <a:latin typeface="Times New Roman"/>
              </a:rPr>
              <a:t>Existing solutions focus on isolated security challenges rather than end-to-end AI agent protection. </a:t>
            </a:r>
            <a:endParaRPr lang="en-IN" sz="1600" b="0" strike="noStrike" spc="-1">
              <a:solidFill>
                <a:srgbClr val="000000"/>
              </a:solidFill>
              <a:latin typeface="Arial"/>
            </a:endParaRPr>
          </a:p>
          <a:p>
            <a:pPr marL="285840" indent="-285840" algn="just" defTabSz="914400">
              <a:lnSpc>
                <a:spcPct val="100000"/>
              </a:lnSpc>
              <a:buClr>
                <a:srgbClr val="000000"/>
              </a:buClr>
              <a:buFont typeface="Wingdings" charset="2"/>
              <a:buChar char=""/>
            </a:pPr>
            <a:r>
              <a:rPr lang="en-IN" sz="1600" b="0" strike="noStrike" spc="-1">
                <a:solidFill>
                  <a:schemeClr val="dk1"/>
                </a:solidFill>
                <a:latin typeface="Times New Roman"/>
              </a:rPr>
              <a:t>Limited capability for continuous runtime monitoring of AI reasoning and behaviour. </a:t>
            </a:r>
            <a:endParaRPr lang="en-IN" sz="1600" b="0" strike="noStrike" spc="-1">
              <a:solidFill>
                <a:srgbClr val="000000"/>
              </a:solidFill>
              <a:latin typeface="Arial"/>
            </a:endParaRPr>
          </a:p>
          <a:p>
            <a:pPr marL="285840" indent="-285840" algn="just" defTabSz="914400">
              <a:lnSpc>
                <a:spcPct val="100000"/>
              </a:lnSpc>
              <a:buClr>
                <a:srgbClr val="000000"/>
              </a:buClr>
              <a:buFont typeface="Wingdings" charset="2"/>
              <a:buChar char=""/>
            </a:pPr>
            <a:r>
              <a:rPr lang="en-IN" sz="1600" b="0" strike="noStrike" spc="-1">
                <a:solidFill>
                  <a:schemeClr val="dk1"/>
                </a:solidFill>
                <a:latin typeface="Times New Roman"/>
              </a:rPr>
              <a:t>Lack of real-time policy enforcement to prevent unauthorized tool execution and data leakage. </a:t>
            </a:r>
            <a:endParaRPr lang="en-IN" sz="1600" b="0" strike="noStrike" spc="-1">
              <a:solidFill>
                <a:srgbClr val="000000"/>
              </a:solidFill>
              <a:latin typeface="Arial"/>
            </a:endParaRPr>
          </a:p>
          <a:p>
            <a:pPr marL="285840" indent="-285840" algn="just" defTabSz="914400">
              <a:lnSpc>
                <a:spcPct val="100000"/>
              </a:lnSpc>
              <a:buClr>
                <a:srgbClr val="000000"/>
              </a:buClr>
              <a:buFont typeface="Wingdings" charset="2"/>
              <a:buChar char=""/>
            </a:pPr>
            <a:r>
              <a:rPr lang="en-IN" sz="1600" b="0" strike="noStrike" spc="-1">
                <a:solidFill>
                  <a:schemeClr val="dk1"/>
                </a:solidFill>
                <a:latin typeface="Times New Roman"/>
              </a:rPr>
              <a:t>Absence of a comprehensive platform integrating threat detection, governance, audit logging, and explainability.</a:t>
            </a:r>
            <a:endParaRPr lang="en-IN" sz="1600" b="0" strike="noStrike" spc="-1">
              <a:solidFill>
                <a:srgbClr val="000000"/>
              </a:solidFill>
              <a:latin typeface="Arial"/>
            </a:endParaRPr>
          </a:p>
        </p:txBody>
      </p:sp>
      <p:sp>
        <p:nvSpPr>
          <p:cNvPr id="52" name="Text 3"/>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595959"/>
                </a:solidFill>
                <a:latin typeface="Times New Roman"/>
                <a:ea typeface="Times New Roman"/>
              </a:rPr>
              <a:t>[vi]</a:t>
            </a:r>
            <a:endParaRPr lang="en-IN" sz="1100" b="0" strike="noStrike" spc="-1">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Problem Formulation</a:t>
            </a:r>
            <a:endParaRPr lang="en-IN" sz="4400" b="0" strike="noStrike" spc="-1">
              <a:solidFill>
                <a:srgbClr val="000000"/>
              </a:solidFill>
              <a:latin typeface="Arial"/>
            </a:endParaRPr>
          </a:p>
        </p:txBody>
      </p:sp>
      <p:sp>
        <p:nvSpPr>
          <p:cNvPr id="54" name="Shape 1"/>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55" name="Text 2"/>
          <p:cNvSpPr/>
          <p:nvPr/>
        </p:nvSpPr>
        <p:spPr>
          <a:xfrm>
            <a:off x="548640" y="1371600"/>
            <a:ext cx="8046360" cy="4754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algn="just" defTabSz="914400">
              <a:lnSpc>
                <a:spcPct val="100000"/>
              </a:lnSpc>
              <a:spcAft>
                <a:spcPts val="1800"/>
              </a:spcAft>
              <a:buClr>
                <a:srgbClr val="000000"/>
              </a:buClr>
              <a:buFont typeface="OpenSymbol"/>
              <a:buChar char="▪"/>
            </a:pPr>
            <a:r>
              <a:rPr lang="en-IN" sz="1600" b="0" strike="noStrike" spc="-1">
                <a:solidFill>
                  <a:schemeClr val="dk1"/>
                </a:solidFill>
                <a:latin typeface="Times New Roman"/>
              </a:rPr>
              <a:t>Continuously monitor AI agents and their interactions in real time. </a:t>
            </a:r>
            <a:endParaRPr lang="en-IN" sz="1600" b="0" strike="noStrike" spc="-1">
              <a:solidFill>
                <a:srgbClr val="000000"/>
              </a:solidFill>
              <a:latin typeface="Arial"/>
            </a:endParaRPr>
          </a:p>
          <a:p>
            <a:pPr marL="343080" indent="-343080" algn="just" defTabSz="914400">
              <a:lnSpc>
                <a:spcPct val="100000"/>
              </a:lnSpc>
              <a:spcAft>
                <a:spcPts val="1800"/>
              </a:spcAft>
              <a:buClr>
                <a:srgbClr val="000000"/>
              </a:buClr>
              <a:buFont typeface="OpenSymbol"/>
              <a:buChar char="▪"/>
            </a:pPr>
            <a:r>
              <a:rPr lang="en-IN" sz="1600" b="0" strike="noStrike" spc="-1">
                <a:solidFill>
                  <a:schemeClr val="dk1"/>
                </a:solidFill>
                <a:latin typeface="Times New Roman"/>
              </a:rPr>
              <a:t>Detect prompt injection, jailbreak attempts, and abnormal agent behaviour. </a:t>
            </a:r>
            <a:endParaRPr lang="en-IN" sz="1600" b="0" strike="noStrike" spc="-1">
              <a:solidFill>
                <a:srgbClr val="000000"/>
              </a:solidFill>
              <a:latin typeface="Arial"/>
            </a:endParaRPr>
          </a:p>
          <a:p>
            <a:pPr marL="343080" indent="-343080" algn="just" defTabSz="914400">
              <a:lnSpc>
                <a:spcPct val="100000"/>
              </a:lnSpc>
              <a:spcAft>
                <a:spcPts val="1800"/>
              </a:spcAft>
              <a:buClr>
                <a:srgbClr val="000000"/>
              </a:buClr>
              <a:buFont typeface="OpenSymbol"/>
              <a:buChar char="▪"/>
            </a:pPr>
            <a:r>
              <a:rPr lang="en-IN" sz="1600" b="0" strike="noStrike" spc="-1">
                <a:solidFill>
                  <a:schemeClr val="dk1"/>
                </a:solidFill>
                <a:latin typeface="Times New Roman"/>
              </a:rPr>
              <a:t>Prevent unauthorized tool access and sensitive data leakage through policy enforcement. </a:t>
            </a:r>
            <a:endParaRPr lang="en-IN" sz="1600" b="0" strike="noStrike" spc="-1">
              <a:solidFill>
                <a:srgbClr val="000000"/>
              </a:solidFill>
              <a:latin typeface="Arial"/>
            </a:endParaRPr>
          </a:p>
          <a:p>
            <a:pPr marL="343080" indent="-343080" algn="just" defTabSz="914400">
              <a:lnSpc>
                <a:spcPct val="100000"/>
              </a:lnSpc>
              <a:spcAft>
                <a:spcPts val="1800"/>
              </a:spcAft>
              <a:buClr>
                <a:srgbClr val="000000"/>
              </a:buClr>
              <a:buFont typeface="OpenSymbol"/>
              <a:buChar char="▪"/>
            </a:pPr>
            <a:r>
              <a:rPr lang="en-IN" sz="1600" b="0" strike="noStrike" spc="-1">
                <a:solidFill>
                  <a:schemeClr val="dk1"/>
                </a:solidFill>
                <a:latin typeface="Times New Roman"/>
              </a:rPr>
              <a:t>Generate explainable security decisions, alerts, and audit logs for transparency. </a:t>
            </a:r>
            <a:endParaRPr lang="en-IN" sz="1600" b="0" strike="noStrike" spc="-1">
              <a:solidFill>
                <a:srgbClr val="000000"/>
              </a:solidFill>
              <a:latin typeface="Arial"/>
            </a:endParaRPr>
          </a:p>
          <a:p>
            <a:pPr marL="343080" indent="-343080" algn="just" defTabSz="914400">
              <a:lnSpc>
                <a:spcPct val="100000"/>
              </a:lnSpc>
              <a:spcAft>
                <a:spcPts val="1800"/>
              </a:spcAft>
              <a:buClr>
                <a:srgbClr val="000000"/>
              </a:buClr>
              <a:buFont typeface="OpenSymbol"/>
              <a:buChar char="▪"/>
            </a:pPr>
            <a:r>
              <a:rPr lang="en-IN" sz="1600" b="0" strike="noStrike" spc="-1">
                <a:solidFill>
                  <a:schemeClr val="dk1"/>
                </a:solidFill>
                <a:latin typeface="Times New Roman"/>
              </a:rPr>
              <a:t>Develop a scalable and extensible security framework adaptable to diverse AI applications.</a:t>
            </a:r>
            <a:endParaRPr lang="en-IN" sz="1600" b="0" strike="noStrike" spc="-1">
              <a:solidFill>
                <a:srgbClr val="000000"/>
              </a:solidFill>
              <a:latin typeface="Arial"/>
            </a:endParaRPr>
          </a:p>
        </p:txBody>
      </p:sp>
      <p:sp>
        <p:nvSpPr>
          <p:cNvPr id="56" name="Text 3"/>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595959"/>
                </a:solidFill>
                <a:latin typeface="Times New Roman"/>
                <a:ea typeface="Times New Roman"/>
              </a:rPr>
              <a:t>[vii]</a:t>
            </a:r>
            <a:endParaRPr lang="en-IN" sz="11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Proposed Solution</a:t>
            </a:r>
            <a:endParaRPr lang="en-IN" sz="4400" b="0" strike="noStrike" spc="-1">
              <a:solidFill>
                <a:srgbClr val="000000"/>
              </a:solidFill>
              <a:latin typeface="Arial"/>
            </a:endParaRPr>
          </a:p>
        </p:txBody>
      </p:sp>
      <p:sp>
        <p:nvSpPr>
          <p:cNvPr id="58" name="Shape 1"/>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59" name="Text 2"/>
          <p:cNvSpPr/>
          <p:nvPr/>
        </p:nvSpPr>
        <p:spPr>
          <a:xfrm>
            <a:off x="548640" y="1371600"/>
            <a:ext cx="8046360" cy="4754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Develop Agent Shield AI, an intelligent runtime security framework for autonomous AI agents. </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Analyze prompts in real time to detect prompt injection, jailbreak attempts, and other malicious inputs before execution. </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Calculate a dynamic risk score to assess threats and generate instant security alerts for suspicious activities. </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Enforce security policies by blocking unauthorized tool access and preventing sensitive data leakage. </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Maintain continuous monitoring, audit logs, and explainable security reports to ensure AI governance, transparency, and regulatory compliance.</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endParaRPr lang="en-IN" sz="1600" b="0" strike="noStrike" spc="-1">
              <a:solidFill>
                <a:srgbClr val="000000"/>
              </a:solidFill>
              <a:latin typeface="Arial"/>
            </a:endParaRPr>
          </a:p>
        </p:txBody>
      </p:sp>
      <p:sp>
        <p:nvSpPr>
          <p:cNvPr id="60" name="Text 3"/>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595959"/>
                </a:solidFill>
                <a:latin typeface="Times New Roman"/>
                <a:ea typeface="Times New Roman"/>
              </a:rPr>
              <a:t>[viii]</a:t>
            </a:r>
            <a:endParaRPr lang="en-IN" sz="1100" b="0" strike="noStrike" spc="-1">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Methodology</a:t>
            </a:r>
          </a:p>
        </p:txBody>
      </p:sp>
      <p:sp>
        <p:nvSpPr>
          <p:cNvPr id="102" name="Shape"/>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103" name="FlowBox"/>
          <p:cNvSpPr/>
          <p:nvPr/>
        </p:nvSpPr>
        <p:spPr>
          <a:xfrm>
            <a:off x="550000" y="1250000"/>
            <a:ext cx="2450000" cy="620000"/>
          </a:xfrm>
          <a:prstGeom prst="rect">
            <a:avLst/>
          </a:prstGeom>
          <a:noFill/>
          <a:ln w="12700">
            <a:solidFill>
              <a:srgbClr val="000000"/>
            </a:solidFill>
          </a:ln>
        </p:spPr>
        <p:style>
          <a:lnRef idx="0">
            <a:scrgbClr r="0" g="0" b="0"/>
          </a:lnRef>
          <a:fillRef idx="0">
            <a:scrgbClr r="0" g="0" b="0"/>
          </a:fillRef>
          <a:effectRef idx="0">
            <a:scrgbClr r="0" g="0" b="0"/>
          </a:effectRef>
          <a:fontRef idx="minor"/>
        </p:style>
        <p:txBody>
          <a:bodyPr wrap="square" lIns="45720" tIns="27432" rIns="45720" bIns="27432" anchor="ctr">
            <a:noAutofit/>
          </a:bodyPr>
          <a:lstStyle/>
          <a:p>
            <a:pPr algn="ctr"/>
            <a:r>
              <a:rPr lang="en-US" sz="1200" b="1" strike="noStrike" spc="-1">
                <a:solidFill>
                  <a:srgbClr val="000000"/>
                </a:solidFill>
                <a:latin typeface="Times New Roman"/>
                <a:ea typeface="Times New Roman"/>
              </a:rPr>
              <a:t>User Prompt</a:t>
            </a:r>
          </a:p>
        </p:txBody>
      </p:sp>
      <p:cxnSp>
        <p:nvCxnSpPr>
          <p:cNvPr id="104" name="Arrow"/>
          <p:cNvCxnSpPr/>
          <p:nvPr/>
        </p:nvCxnSpPr>
        <p:spPr>
          <a:xfrm>
            <a:off x="3000000" y="1550475"/>
            <a:ext cx="300000" cy="0"/>
          </a:xfrm>
          <a:prstGeom prst="straightConnector1">
            <a:avLst/>
          </a:prstGeom>
          <a:ln w="19050">
            <a:solidFill>
              <a:srgbClr val="000000"/>
            </a:solidFill>
            <a:tailEnd type="triangle"/>
          </a:ln>
        </p:spPr>
        <p:style>
          <a:lnRef idx="0">
            <a:scrgbClr r="0" g="0" b="0"/>
          </a:lnRef>
          <a:fillRef idx="0">
            <a:scrgbClr r="0" g="0" b="0"/>
          </a:fillRef>
          <a:effectRef idx="0">
            <a:scrgbClr r="0" g="0" b="0"/>
          </a:effectRef>
          <a:fontRef idx="minor"/>
        </p:style>
      </p:cxnSp>
      <p:sp>
        <p:nvSpPr>
          <p:cNvPr id="105" name="FlowBox"/>
          <p:cNvSpPr/>
          <p:nvPr/>
        </p:nvSpPr>
        <p:spPr>
          <a:xfrm>
            <a:off x="3300000" y="1250000"/>
            <a:ext cx="2450000" cy="620000"/>
          </a:xfrm>
          <a:prstGeom prst="rect">
            <a:avLst/>
          </a:prstGeom>
          <a:noFill/>
          <a:ln w="12700">
            <a:solidFill>
              <a:srgbClr val="000000"/>
            </a:solidFill>
          </a:ln>
        </p:spPr>
        <p:style>
          <a:lnRef idx="0">
            <a:scrgbClr r="0" g="0" b="0"/>
          </a:lnRef>
          <a:fillRef idx="0">
            <a:scrgbClr r="0" g="0" b="0"/>
          </a:fillRef>
          <a:effectRef idx="0">
            <a:scrgbClr r="0" g="0" b="0"/>
          </a:effectRef>
          <a:fontRef idx="minor"/>
        </p:style>
        <p:txBody>
          <a:bodyPr wrap="square" lIns="45720" tIns="27432" rIns="45720" bIns="27432" anchor="ctr">
            <a:noAutofit/>
          </a:bodyPr>
          <a:lstStyle/>
          <a:p>
            <a:pPr algn="ctr"/>
            <a:r>
              <a:rPr lang="en-US" sz="1200" b="1" strike="noStrike" spc="-1">
                <a:solidFill>
                  <a:srgbClr val="000000"/>
                </a:solidFill>
                <a:latin typeface="Times New Roman"/>
                <a:ea typeface="Times New Roman"/>
              </a:rPr>
              <a:t>Prompt Analyzer</a:t>
            </a:r>
          </a:p>
        </p:txBody>
      </p:sp>
      <p:cxnSp>
        <p:nvCxnSpPr>
          <p:cNvPr id="106" name="Arrow"/>
          <p:cNvCxnSpPr/>
          <p:nvPr/>
        </p:nvCxnSpPr>
        <p:spPr>
          <a:xfrm>
            <a:off x="5750000" y="1550475"/>
            <a:ext cx="300000" cy="0"/>
          </a:xfrm>
          <a:prstGeom prst="straightConnector1">
            <a:avLst/>
          </a:prstGeom>
          <a:ln w="19050">
            <a:solidFill>
              <a:srgbClr val="000000"/>
            </a:solidFill>
            <a:tailEnd type="triangle"/>
          </a:ln>
        </p:spPr>
        <p:style>
          <a:lnRef idx="0">
            <a:scrgbClr r="0" g="0" b="0"/>
          </a:lnRef>
          <a:fillRef idx="0">
            <a:scrgbClr r="0" g="0" b="0"/>
          </a:fillRef>
          <a:effectRef idx="0">
            <a:scrgbClr r="0" g="0" b="0"/>
          </a:effectRef>
          <a:fontRef idx="minor"/>
        </p:style>
      </p:cxnSp>
      <p:sp>
        <p:nvSpPr>
          <p:cNvPr id="107" name="FlowBox"/>
          <p:cNvSpPr/>
          <p:nvPr/>
        </p:nvSpPr>
        <p:spPr>
          <a:xfrm>
            <a:off x="6050000" y="1250000"/>
            <a:ext cx="2450000" cy="620000"/>
          </a:xfrm>
          <a:prstGeom prst="rect">
            <a:avLst/>
          </a:prstGeom>
          <a:noFill/>
          <a:ln w="12700">
            <a:solidFill>
              <a:srgbClr val="000000"/>
            </a:solidFill>
          </a:ln>
        </p:spPr>
        <p:style>
          <a:lnRef idx="0">
            <a:scrgbClr r="0" g="0" b="0"/>
          </a:lnRef>
          <a:fillRef idx="0">
            <a:scrgbClr r="0" g="0" b="0"/>
          </a:fillRef>
          <a:effectRef idx="0">
            <a:scrgbClr r="0" g="0" b="0"/>
          </a:effectRef>
          <a:fontRef idx="minor"/>
        </p:style>
        <p:txBody>
          <a:bodyPr wrap="square" lIns="45720" tIns="27432" rIns="45720" bIns="27432" anchor="ctr">
            <a:noAutofit/>
          </a:bodyPr>
          <a:lstStyle/>
          <a:p>
            <a:pPr algn="ctr"/>
            <a:r>
              <a:rPr lang="en-US" sz="1200" b="1" strike="noStrike" spc="-1">
                <a:solidFill>
                  <a:srgbClr val="000000"/>
                </a:solidFill>
                <a:latin typeface="Times New Roman"/>
                <a:ea typeface="Times New Roman"/>
              </a:rPr>
              <a:t>AI Agent (LLM)</a:t>
            </a:r>
          </a:p>
        </p:txBody>
      </p:sp>
      <p:cxnSp>
        <p:nvCxnSpPr>
          <p:cNvPr id="108" name="Arrow"/>
          <p:cNvCxnSpPr/>
          <p:nvPr/>
        </p:nvCxnSpPr>
        <p:spPr>
          <a:xfrm>
            <a:off x="7275000" y="1870000"/>
            <a:ext cx="0" cy="260000"/>
          </a:xfrm>
          <a:prstGeom prst="straightConnector1">
            <a:avLst/>
          </a:prstGeom>
          <a:ln w="19050">
            <a:solidFill>
              <a:srgbClr val="000000"/>
            </a:solidFill>
            <a:tailEnd type="triangle"/>
          </a:ln>
        </p:spPr>
        <p:style>
          <a:lnRef idx="0">
            <a:scrgbClr r="0" g="0" b="0"/>
          </a:lnRef>
          <a:fillRef idx="0">
            <a:scrgbClr r="0" g="0" b="0"/>
          </a:fillRef>
          <a:effectRef idx="0">
            <a:scrgbClr r="0" g="0" b="0"/>
          </a:effectRef>
          <a:fontRef idx="minor"/>
        </p:style>
      </p:cxnSp>
      <p:sp>
        <p:nvSpPr>
          <p:cNvPr id="109" name="FlowBox"/>
          <p:cNvSpPr/>
          <p:nvPr/>
        </p:nvSpPr>
        <p:spPr>
          <a:xfrm>
            <a:off x="550000" y="2130000"/>
            <a:ext cx="2450000" cy="620000"/>
          </a:xfrm>
          <a:prstGeom prst="rect">
            <a:avLst/>
          </a:prstGeom>
          <a:noFill/>
          <a:ln w="12700">
            <a:solidFill>
              <a:srgbClr val="000000"/>
            </a:solidFill>
          </a:ln>
        </p:spPr>
        <p:style>
          <a:lnRef idx="0">
            <a:scrgbClr r="0" g="0" b="0"/>
          </a:lnRef>
          <a:fillRef idx="0">
            <a:scrgbClr r="0" g="0" b="0"/>
          </a:fillRef>
          <a:effectRef idx="0">
            <a:scrgbClr r="0" g="0" b="0"/>
          </a:effectRef>
          <a:fontRef idx="minor"/>
        </p:style>
        <p:txBody>
          <a:bodyPr wrap="square" lIns="45720" tIns="27432" rIns="45720" bIns="27432" anchor="ctr">
            <a:noAutofit/>
          </a:bodyPr>
          <a:lstStyle/>
          <a:p>
            <a:pPr algn="ctr"/>
            <a:r>
              <a:rPr lang="en-US" sz="1100" b="1" strike="noStrike" spc="-1">
                <a:solidFill>
                  <a:srgbClr val="000000"/>
                </a:solidFill>
                <a:latin typeface="Times New Roman"/>
                <a:ea typeface="Times New Roman"/>
              </a:rPr>
              <a:t>Policy Enforcement</a:t>
            </a:r>
          </a:p>
        </p:txBody>
      </p:sp>
      <p:sp>
        <p:nvSpPr>
          <p:cNvPr id="111" name="FlowBox"/>
          <p:cNvSpPr/>
          <p:nvPr/>
        </p:nvSpPr>
        <p:spPr>
          <a:xfrm>
            <a:off x="3300000" y="2130000"/>
            <a:ext cx="2450000" cy="620000"/>
          </a:xfrm>
          <a:prstGeom prst="rect">
            <a:avLst/>
          </a:prstGeom>
          <a:noFill/>
          <a:ln w="12700">
            <a:solidFill>
              <a:srgbClr val="000000"/>
            </a:solidFill>
          </a:ln>
        </p:spPr>
        <p:style>
          <a:lnRef idx="0">
            <a:scrgbClr r="0" g="0" b="0"/>
          </a:lnRef>
          <a:fillRef idx="0">
            <a:scrgbClr r="0" g="0" b="0"/>
          </a:fillRef>
          <a:effectRef idx="0">
            <a:scrgbClr r="0" g="0" b="0"/>
          </a:effectRef>
          <a:fontRef idx="minor"/>
        </p:style>
        <p:txBody>
          <a:bodyPr wrap="square" lIns="45720" tIns="27432" rIns="45720" bIns="27432" anchor="ctr">
            <a:noAutofit/>
          </a:bodyPr>
          <a:lstStyle/>
          <a:p>
            <a:pPr algn="ctr"/>
            <a:r>
              <a:rPr lang="en-US" sz="1100" b="1" strike="noStrike" spc="-1">
                <a:solidFill>
                  <a:srgbClr val="000000"/>
                </a:solidFill>
                <a:latin typeface="Times New Roman"/>
                <a:ea typeface="Times New Roman"/>
              </a:rPr>
              <a:t>Threat Detection &amp; Risk Scoring</a:t>
            </a:r>
          </a:p>
        </p:txBody>
      </p:sp>
      <p:sp>
        <p:nvSpPr>
          <p:cNvPr id="113" name="FlowBox"/>
          <p:cNvSpPr/>
          <p:nvPr/>
        </p:nvSpPr>
        <p:spPr>
          <a:xfrm>
            <a:off x="6050000" y="2130000"/>
            <a:ext cx="2450000" cy="620000"/>
          </a:xfrm>
          <a:prstGeom prst="rect">
            <a:avLst/>
          </a:prstGeom>
          <a:noFill/>
          <a:ln w="12700">
            <a:solidFill>
              <a:srgbClr val="000000"/>
            </a:solidFill>
          </a:ln>
        </p:spPr>
        <p:style>
          <a:lnRef idx="0">
            <a:scrgbClr r="0" g="0" b="0"/>
          </a:lnRef>
          <a:fillRef idx="0">
            <a:scrgbClr r="0" g="0" b="0"/>
          </a:fillRef>
          <a:effectRef idx="0">
            <a:scrgbClr r="0" g="0" b="0"/>
          </a:effectRef>
          <a:fontRef idx="minor"/>
        </p:style>
        <p:txBody>
          <a:bodyPr wrap="square" lIns="45720" tIns="27432" rIns="45720" bIns="27432" anchor="ctr">
            <a:noAutofit/>
          </a:bodyPr>
          <a:lstStyle/>
          <a:p>
            <a:pPr algn="ctr"/>
            <a:r>
              <a:rPr lang="en-US" sz="1100" b="1" strike="noStrike" spc="-1">
                <a:solidFill>
                  <a:srgbClr val="000000"/>
                </a:solidFill>
                <a:latin typeface="Times New Roman"/>
                <a:ea typeface="Times New Roman"/>
              </a:rPr>
              <a:t>Behavior Monitor</a:t>
            </a:r>
          </a:p>
        </p:txBody>
      </p:sp>
      <p:cxnSp>
        <p:nvCxnSpPr>
          <p:cNvPr id="114" name="Arrow"/>
          <p:cNvCxnSpPr/>
          <p:nvPr/>
        </p:nvCxnSpPr>
        <p:spPr>
          <a:xfrm>
            <a:off x="1775000" y="2750000"/>
            <a:ext cx="0" cy="260000"/>
          </a:xfrm>
          <a:prstGeom prst="straightConnector1">
            <a:avLst/>
          </a:prstGeom>
          <a:ln w="19050">
            <a:solidFill>
              <a:srgbClr val="000000"/>
            </a:solidFill>
            <a:tailEnd type="triangle"/>
          </a:ln>
        </p:spPr>
        <p:style>
          <a:lnRef idx="0">
            <a:scrgbClr r="0" g="0" b="0"/>
          </a:lnRef>
          <a:fillRef idx="0">
            <a:scrgbClr r="0" g="0" b="0"/>
          </a:fillRef>
          <a:effectRef idx="0">
            <a:scrgbClr r="0" g="0" b="0"/>
          </a:effectRef>
          <a:fontRef idx="minor"/>
        </p:style>
      </p:cxnSp>
      <p:sp>
        <p:nvSpPr>
          <p:cNvPr id="115" name="FlowBox"/>
          <p:cNvSpPr/>
          <p:nvPr/>
        </p:nvSpPr>
        <p:spPr>
          <a:xfrm>
            <a:off x="550000" y="3010000"/>
            <a:ext cx="2450000" cy="620000"/>
          </a:xfrm>
          <a:prstGeom prst="rect">
            <a:avLst/>
          </a:prstGeom>
          <a:noFill/>
          <a:ln w="12700">
            <a:solidFill>
              <a:srgbClr val="000000"/>
            </a:solidFill>
          </a:ln>
        </p:spPr>
        <p:style>
          <a:lnRef idx="0">
            <a:scrgbClr r="0" g="0" b="0"/>
          </a:lnRef>
          <a:fillRef idx="0">
            <a:scrgbClr r="0" g="0" b="0"/>
          </a:fillRef>
          <a:effectRef idx="0">
            <a:scrgbClr r="0" g="0" b="0"/>
          </a:effectRef>
          <a:fontRef idx="minor"/>
        </p:style>
        <p:txBody>
          <a:bodyPr wrap="square" lIns="45720" tIns="27432" rIns="45720" bIns="27432" anchor="ctr">
            <a:noAutofit/>
          </a:bodyPr>
          <a:lstStyle/>
          <a:p>
            <a:pPr algn="ctr"/>
            <a:r>
              <a:rPr lang="en-US" sz="1100" b="1" strike="noStrike" spc="-1">
                <a:solidFill>
                  <a:srgbClr val="000000"/>
                </a:solidFill>
                <a:latin typeface="Times New Roman"/>
                <a:ea typeface="Times New Roman"/>
              </a:rPr>
              <a:t>Secure Tool / API Gateway</a:t>
            </a:r>
          </a:p>
        </p:txBody>
      </p:sp>
      <p:cxnSp>
        <p:nvCxnSpPr>
          <p:cNvPr id="116" name="Arrow"/>
          <p:cNvCxnSpPr/>
          <p:nvPr/>
        </p:nvCxnSpPr>
        <p:spPr>
          <a:xfrm>
            <a:off x="3000000" y="3310475"/>
            <a:ext cx="300000" cy="0"/>
          </a:xfrm>
          <a:prstGeom prst="straightConnector1">
            <a:avLst/>
          </a:prstGeom>
          <a:ln w="19050">
            <a:solidFill>
              <a:srgbClr val="000000"/>
            </a:solidFill>
            <a:tailEnd type="triangle"/>
          </a:ln>
        </p:spPr>
        <p:style>
          <a:lnRef idx="0">
            <a:scrgbClr r="0" g="0" b="0"/>
          </a:lnRef>
          <a:fillRef idx="0">
            <a:scrgbClr r="0" g="0" b="0"/>
          </a:fillRef>
          <a:effectRef idx="0">
            <a:scrgbClr r="0" g="0" b="0"/>
          </a:effectRef>
          <a:fontRef idx="minor"/>
        </p:style>
      </p:cxnSp>
      <p:sp>
        <p:nvSpPr>
          <p:cNvPr id="117" name="FlowBox"/>
          <p:cNvSpPr/>
          <p:nvPr/>
        </p:nvSpPr>
        <p:spPr>
          <a:xfrm>
            <a:off x="3300000" y="3010000"/>
            <a:ext cx="2450000" cy="620000"/>
          </a:xfrm>
          <a:prstGeom prst="rect">
            <a:avLst/>
          </a:prstGeom>
          <a:noFill/>
          <a:ln w="12700">
            <a:solidFill>
              <a:srgbClr val="000000"/>
            </a:solidFill>
          </a:ln>
        </p:spPr>
        <p:style>
          <a:lnRef idx="0">
            <a:scrgbClr r="0" g="0" b="0"/>
          </a:lnRef>
          <a:fillRef idx="0">
            <a:scrgbClr r="0" g="0" b="0"/>
          </a:fillRef>
          <a:effectRef idx="0">
            <a:scrgbClr r="0" g="0" b="0"/>
          </a:effectRef>
          <a:fontRef idx="minor"/>
        </p:style>
        <p:txBody>
          <a:bodyPr wrap="square" lIns="45720" tIns="27432" rIns="45720" bIns="27432" anchor="ctr">
            <a:noAutofit/>
          </a:bodyPr>
          <a:lstStyle/>
          <a:p>
            <a:pPr algn="ctr"/>
            <a:r>
              <a:rPr lang="en-US" sz="1100" b="1" strike="noStrike" spc="-1">
                <a:solidFill>
                  <a:srgbClr val="000000"/>
                </a:solidFill>
                <a:latin typeface="Times New Roman"/>
                <a:ea typeface="Times New Roman"/>
              </a:rPr>
              <a:t>Audit Logs &amp; Dashboard</a:t>
            </a:r>
          </a:p>
        </p:txBody>
      </p:sp>
      <p:sp>
        <p:nvSpPr>
          <p:cNvPr id="118" name="Text"/>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a:r>
              <a:rPr lang="en-US" sz="1100" b="1" strike="noStrike" spc="-1">
                <a:solidFill>
                  <a:srgbClr val="595959"/>
                </a:solidFill>
                <a:latin typeface="Times New Roman"/>
                <a:ea typeface="Times New Roman"/>
              </a:rPr>
              <a:t>[ix]</a:t>
            </a:r>
          </a:p>
        </p:txBody>
      </p:sp>
      <p:cxnSp>
        <p:nvCxnSpPr>
          <p:cNvPr id="3" name="Straight Arrow Connector 2">
            <a:extLst>
              <a:ext uri="{FF2B5EF4-FFF2-40B4-BE49-F238E27FC236}">
                <a16:creationId xmlns:a16="http://schemas.microsoft.com/office/drawing/2014/main" id="{C4460D6A-76CB-9534-101B-8339E13F55CC}"/>
              </a:ext>
            </a:extLst>
          </p:cNvPr>
          <p:cNvCxnSpPr>
            <a:cxnSpLocks/>
            <a:stCxn id="113" idx="1"/>
            <a:endCxn id="111" idx="3"/>
          </p:cNvCxnSpPr>
          <p:nvPr/>
        </p:nvCxnSpPr>
        <p:spPr>
          <a:xfrm flipH="1">
            <a:off x="5750000" y="2440000"/>
            <a:ext cx="30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8DC307E7-00C7-A679-086A-953E32C5516C}"/>
              </a:ext>
            </a:extLst>
          </p:cNvPr>
          <p:cNvCxnSpPr>
            <a:cxnSpLocks/>
          </p:cNvCxnSpPr>
          <p:nvPr/>
        </p:nvCxnSpPr>
        <p:spPr>
          <a:xfrm flipH="1">
            <a:off x="3019245" y="2507559"/>
            <a:ext cx="300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1"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Implementation So Far</a:t>
            </a:r>
          </a:p>
        </p:txBody>
      </p:sp>
      <p:sp>
        <p:nvSpPr>
          <p:cNvPr id="202" name="Shape"/>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204" name="Placeholder Box"/>
          <p:cNvSpPr/>
          <p:nvPr/>
        </p:nvSpPr>
        <p:spPr>
          <a:xfrm>
            <a:off x="502920" y="1650000"/>
            <a:ext cx="8137800" cy="3800000"/>
          </a:xfrm>
          <a:prstGeom prst="rect">
            <a:avLst/>
          </a:prstGeom>
          <a:noFill/>
          <a:ln w="12700">
            <a:solidFill>
              <a:srgbClr val="A6A6A6"/>
            </a:solidFill>
            <a:prstDash val="dash"/>
          </a:ln>
        </p:spPr>
        <p:style>
          <a:lnRef idx="0">
            <a:scrgbClr r="0" g="0" b="0"/>
          </a:lnRef>
          <a:fillRef idx="0">
            <a:scrgbClr r="0" g="0" b="0"/>
          </a:fillRef>
          <a:effectRef idx="0">
            <a:scrgbClr r="0" g="0" b="0"/>
          </a:effectRef>
          <a:fontRef idx="minor"/>
        </p:style>
        <p:txBody>
          <a:bodyPr lIns="0" tIns="0" rIns="0" bIns="0" anchor="ctr">
            <a:noAutofit/>
          </a:bodyPr>
          <a:lstStyle/>
          <a:p>
            <a:pPr algn="ctr"/>
            <a:r>
              <a:rPr lang="en-IN" sz="1600" i="1" strike="noStrike" spc="-1" dirty="0">
                <a:solidFill>
                  <a:srgbClr val="808080"/>
                </a:solidFill>
                <a:latin typeface="Times New Roman"/>
              </a:rPr>
              <a:t>[Screenshots to be inserted here - max 2 per slide]</a:t>
            </a:r>
          </a:p>
        </p:txBody>
      </p:sp>
      <p:sp>
        <p:nvSpPr>
          <p:cNvPr id="205" name="Text"/>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a:r>
              <a:rPr lang="en-US" sz="1100" b="1" strike="noStrike" spc="-1">
                <a:solidFill>
                  <a:srgbClr val="595959"/>
                </a:solidFill>
                <a:latin typeface="Times New Roman"/>
                <a:ea typeface="Times New Roman"/>
              </a:rPr>
              <a:t>[x]</a:t>
            </a:r>
          </a:p>
        </p:txBody>
      </p:sp>
      <p:pic>
        <p:nvPicPr>
          <p:cNvPr id="3" name="Picture 2">
            <a:extLst>
              <a:ext uri="{FF2B5EF4-FFF2-40B4-BE49-F238E27FC236}">
                <a16:creationId xmlns:a16="http://schemas.microsoft.com/office/drawing/2014/main" id="{33A0B666-546F-1612-992B-382BF6A8419C}"/>
              </a:ext>
            </a:extLst>
          </p:cNvPr>
          <p:cNvPicPr>
            <a:picLocks noChangeAspect="1"/>
          </p:cNvPicPr>
          <p:nvPr/>
        </p:nvPicPr>
        <p:blipFill>
          <a:blip r:embed="rId2"/>
          <a:stretch>
            <a:fillRect/>
          </a:stretch>
        </p:blipFill>
        <p:spPr>
          <a:xfrm>
            <a:off x="457200" y="1360295"/>
            <a:ext cx="8356862" cy="4379409"/>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E29FA76-08CB-7C45-D658-1216A9EABE9F}"/>
              </a:ext>
            </a:extLst>
          </p:cNvPr>
          <p:cNvPicPr>
            <a:picLocks noGrp="1" noChangeAspect="1"/>
          </p:cNvPicPr>
          <p:nvPr>
            <p:ph idx="1"/>
          </p:nvPr>
        </p:nvPicPr>
        <p:blipFill>
          <a:blip r:embed="rId2"/>
          <a:stretch>
            <a:fillRect/>
          </a:stretch>
        </p:blipFill>
        <p:spPr>
          <a:xfrm>
            <a:off x="711620" y="704653"/>
            <a:ext cx="7720760" cy="4525963"/>
          </a:xfrm>
          <a:prstGeom prst="rect">
            <a:avLst/>
          </a:prstGeom>
        </p:spPr>
      </p:pic>
    </p:spTree>
    <p:extLst>
      <p:ext uri="{BB962C8B-B14F-4D97-AF65-F5344CB8AC3E}">
        <p14:creationId xmlns:p14="http://schemas.microsoft.com/office/powerpoint/2010/main" val="126882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6"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Outcomes Achieved So Far</a:t>
            </a:r>
          </a:p>
        </p:txBody>
      </p:sp>
      <p:sp>
        <p:nvSpPr>
          <p:cNvPr id="207" name="Shape"/>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208" name="Text"/>
          <p:cNvSpPr/>
          <p:nvPr/>
        </p:nvSpPr>
        <p:spPr>
          <a:xfrm>
            <a:off x="457200" y="1100000"/>
            <a:ext cx="8229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strike="noStrike" spc="-1">
                <a:solidFill>
                  <a:srgbClr val="000000"/>
                </a:solidFill>
                <a:latin typeface="Times New Roman"/>
                <a:ea typeface="Times New Roman"/>
              </a:rPr>
              <a:t>Status of Objectives Achieved</a:t>
            </a:r>
          </a:p>
        </p:txBody>
      </p:sp>
      <p:sp>
        <p:nvSpPr>
          <p:cNvPr id="209" name="Shape"/>
          <p:cNvSpPr/>
          <p:nvPr/>
        </p:nvSpPr>
        <p:spPr>
          <a:xfrm>
            <a:off x="457200" y="1430000"/>
            <a:ext cx="8229600" cy="360"/>
          </a:xfrm>
          <a:prstGeom prst="line">
            <a:avLst/>
          </a:prstGeom>
          <a:ln w="12700">
            <a:solidFill>
              <a:srgbClr val="BFBFBF"/>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210" name="Text"/>
          <p:cNvSpPr/>
          <p:nvPr/>
        </p:nvSpPr>
        <p:spPr>
          <a:xfrm>
            <a:off x="502920" y="1520000"/>
            <a:ext cx="8137800" cy="220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algn="just" defTabSz="914400">
              <a:lnSpc>
                <a:spcPct val="100000"/>
              </a:lnSpc>
              <a:spcAft>
                <a:spcPts val="601"/>
              </a:spcAft>
              <a:buClr>
                <a:srgbClr val="000000"/>
              </a:buClr>
              <a:buFont typeface="OpenSymbol"/>
              <a:buChar char="▪"/>
            </a:pPr>
            <a:r>
              <a:rPr lang="en-IN" sz="1600" b="0" strike="noStrike" spc="-1" dirty="0">
                <a:solidFill>
                  <a:schemeClr val="dk1"/>
                </a:solidFill>
                <a:latin typeface="Times New Roman"/>
              </a:rPr>
              <a:t>Objective 1 (Study &amp; Requirements) - Completed. OWASP LLM Top 10 studied and system requirements finalized.</a:t>
            </a:r>
          </a:p>
          <a:p>
            <a:pPr marL="177840" indent="-177840" algn="just" defTabSz="914400">
              <a:lnSpc>
                <a:spcPct val="100000"/>
              </a:lnSpc>
              <a:spcAft>
                <a:spcPts val="601"/>
              </a:spcAft>
              <a:buClr>
                <a:srgbClr val="000000"/>
              </a:buClr>
              <a:buFont typeface="OpenSymbol"/>
              <a:buChar char="▪"/>
            </a:pPr>
            <a:r>
              <a:rPr lang="en-IN" sz="1600" b="0" strike="noStrike" spc="-1" dirty="0">
                <a:solidFill>
                  <a:schemeClr val="dk1"/>
                </a:solidFill>
                <a:latin typeface="Times New Roman"/>
              </a:rPr>
              <a:t>Objective 2 (Design &amp; Development) – </a:t>
            </a:r>
            <a:r>
              <a:rPr lang="en-IN" sz="1600" b="0" strike="noStrike" spc="-1" dirty="0" err="1">
                <a:solidFill>
                  <a:schemeClr val="dk1"/>
                </a:solidFill>
                <a:latin typeface="Times New Roman"/>
              </a:rPr>
              <a:t>Inprogess</a:t>
            </a:r>
            <a:r>
              <a:rPr lang="en-IN" sz="1600" b="0" strike="noStrike" spc="-1" dirty="0">
                <a:solidFill>
                  <a:schemeClr val="dk1"/>
                </a:solidFill>
                <a:latin typeface="Times New Roman"/>
              </a:rPr>
              <a:t>. Security-layer architecture designed, covering the Prompt Analyzer, Threat Detection Engine, Behavioural Monitoring Module, and Policy Enforcement Engine.</a:t>
            </a:r>
          </a:p>
          <a:p>
            <a:pPr marL="177840" indent="-177840" algn="just" defTabSz="914400">
              <a:lnSpc>
                <a:spcPct val="100000"/>
              </a:lnSpc>
              <a:spcAft>
                <a:spcPts val="601"/>
              </a:spcAft>
              <a:buClr>
                <a:srgbClr val="000000"/>
              </a:buClr>
              <a:buFont typeface="OpenSymbol"/>
              <a:buChar char="▪"/>
            </a:pPr>
            <a:r>
              <a:rPr lang="en-IN" sz="1600" b="0" strike="noStrike" spc="-1" dirty="0">
                <a:solidFill>
                  <a:schemeClr val="dk1"/>
                </a:solidFill>
                <a:latin typeface="Times New Roman"/>
              </a:rPr>
              <a:t>Objective 3 (Detect &amp; Enforce) - In Progress. Core framework development is underway; prompt analysis and policy enforcement modules are being built and integrated.</a:t>
            </a:r>
          </a:p>
          <a:p>
            <a:pPr marL="177840" indent="-177840" algn="just" defTabSz="914400">
              <a:lnSpc>
                <a:spcPct val="100000"/>
              </a:lnSpc>
              <a:spcAft>
                <a:spcPts val="601"/>
              </a:spcAft>
              <a:buClr>
                <a:srgbClr val="000000"/>
              </a:buClr>
              <a:buFont typeface="OpenSymbol"/>
              <a:buChar char="▪"/>
            </a:pPr>
            <a:r>
              <a:rPr lang="en-IN" sz="1600" b="0" strike="noStrike" spc="-1" dirty="0">
                <a:solidFill>
                  <a:schemeClr val="dk1"/>
                </a:solidFill>
                <a:latin typeface="Times New Roman"/>
              </a:rPr>
              <a:t>Objective 4 (Report &amp; Govern) - Planned. Explainable reporting, audit logging, and the security dashboard are planned for the next development phase.</a:t>
            </a:r>
          </a:p>
        </p:txBody>
      </p:sp>
      <p:sp>
        <p:nvSpPr>
          <p:cNvPr id="211" name="Text"/>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a:r>
              <a:rPr lang="en-US" sz="1100" b="1" strike="noStrike" spc="-1">
                <a:solidFill>
                  <a:srgbClr val="595959"/>
                </a:solidFill>
                <a:latin typeface="Times New Roman"/>
                <a:ea typeface="Times New Roman"/>
              </a:rPr>
              <a:t>[xi]</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2"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Status Of Research Paper</a:t>
            </a:r>
          </a:p>
        </p:txBody>
      </p:sp>
      <p:sp>
        <p:nvSpPr>
          <p:cNvPr id="213" name="Shape"/>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214" name="Text"/>
          <p:cNvSpPr/>
          <p:nvPr/>
        </p:nvSpPr>
        <p:spPr>
          <a:xfrm>
            <a:off x="502920" y="1188720"/>
            <a:ext cx="8137800" cy="2000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algn="just" defTabSz="914400">
              <a:lnSpc>
                <a:spcPct val="100000"/>
              </a:lnSpc>
              <a:spcAft>
                <a:spcPts val="601"/>
              </a:spcAft>
              <a:buClr>
                <a:srgbClr val="000000"/>
              </a:buClr>
              <a:buFont typeface="OpenSymbol"/>
              <a:buChar char="▪"/>
            </a:pPr>
            <a:r>
              <a:rPr lang="en-IN" sz="1600" b="0" strike="noStrike" spc="-1" dirty="0">
                <a:solidFill>
                  <a:schemeClr val="dk1"/>
                </a:solidFill>
                <a:latin typeface="Times New Roman"/>
              </a:rPr>
              <a:t>Current </a:t>
            </a:r>
            <a:r>
              <a:rPr lang="en-IN" sz="1600" b="0" strike="noStrike" spc="-1" dirty="0" err="1">
                <a:solidFill>
                  <a:schemeClr val="dk1"/>
                </a:solidFill>
                <a:latin typeface="Times New Roman"/>
              </a:rPr>
              <a:t>Status:Drafted</a:t>
            </a:r>
            <a:r>
              <a:rPr lang="en-IN" sz="1600" b="0" strike="noStrike" spc="-1" dirty="0">
                <a:solidFill>
                  <a:schemeClr val="dk1"/>
                </a:solidFill>
                <a:latin typeface="Times New Roman"/>
              </a:rPr>
              <a:t>  </a:t>
            </a:r>
          </a:p>
          <a:p>
            <a:pPr marL="177840" indent="-177840" algn="just" defTabSz="914400">
              <a:lnSpc>
                <a:spcPct val="100000"/>
              </a:lnSpc>
              <a:spcAft>
                <a:spcPts val="601"/>
              </a:spcAft>
              <a:buClr>
                <a:srgbClr val="000000"/>
              </a:buClr>
              <a:buFont typeface="OpenSymbol"/>
              <a:buChar char="▪"/>
            </a:pPr>
            <a:r>
              <a:rPr lang="en-IN" sz="1600" spc="-1" dirty="0">
                <a:solidFill>
                  <a:schemeClr val="dk1"/>
                </a:solidFill>
                <a:latin typeface="Times New Roman"/>
              </a:rPr>
              <a:t>The research paper on </a:t>
            </a:r>
            <a:r>
              <a:rPr lang="en-IN" sz="1600" spc="-1" dirty="0" err="1">
                <a:solidFill>
                  <a:schemeClr val="dk1"/>
                </a:solidFill>
                <a:latin typeface="Times New Roman"/>
              </a:rPr>
              <a:t>AgentShield</a:t>
            </a:r>
            <a:r>
              <a:rPr lang="en-IN" sz="1600" spc="-1" dirty="0">
                <a:solidFill>
                  <a:schemeClr val="dk1"/>
                </a:solidFill>
                <a:latin typeface="Times New Roman"/>
              </a:rPr>
              <a:t> AI has been prepared and is currently in drafting stage .</a:t>
            </a:r>
          </a:p>
        </p:txBody>
      </p:sp>
      <p:sp>
        <p:nvSpPr>
          <p:cNvPr id="215" name="Text"/>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a:r>
              <a:rPr lang="en-US" sz="1100" b="1" strike="noStrike" spc="-1">
                <a:solidFill>
                  <a:srgbClr val="595959"/>
                </a:solidFill>
                <a:latin typeface="Times New Roman"/>
                <a:ea typeface="Times New Roman"/>
              </a:rPr>
              <a:t>[xii]</a:t>
            </a: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Conclusion</a:t>
            </a:r>
            <a:endParaRPr lang="en-IN" sz="4400" b="0" strike="noStrike" spc="-1">
              <a:solidFill>
                <a:srgbClr val="000000"/>
              </a:solidFill>
              <a:latin typeface="Arial"/>
            </a:endParaRPr>
          </a:p>
        </p:txBody>
      </p:sp>
      <p:sp>
        <p:nvSpPr>
          <p:cNvPr id="66" name="Shape 1"/>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67" name="Text 2"/>
          <p:cNvSpPr/>
          <p:nvPr/>
        </p:nvSpPr>
        <p:spPr>
          <a:xfrm>
            <a:off x="548640" y="1371600"/>
            <a:ext cx="8046360" cy="457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Agent Shield AI introduces a dedicated runtime security framework for protecting autonomous AI agents. </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Integrates real-time threat detection, continuous monitoring, and policy enforcement to ensure secure AI operations. </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Enhances transparency, governance, and compliance through explainable security decisions, audit logs, and real-time reporting. </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Provides a scalable and extensible foundation for the secure deployment of next-generation AI agents across diverse enterprise applications.</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endParaRPr lang="en-IN" sz="1600" b="0" strike="noStrike" spc="-1">
              <a:solidFill>
                <a:srgbClr val="000000"/>
              </a:solidFill>
              <a:latin typeface="Arial"/>
            </a:endParaRPr>
          </a:p>
        </p:txBody>
      </p:sp>
      <p:sp>
        <p:nvSpPr>
          <p:cNvPr id="68" name="Text 3"/>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595959"/>
                </a:solidFill>
                <a:latin typeface="Times New Roman"/>
                <a:ea typeface="Times New Roman"/>
              </a:rPr>
              <a:t>[xiii]</a:t>
            </a:r>
            <a:endParaRPr lang="en-IN" sz="1100" b="0" strike="noStrike" spc="-1">
              <a:solidFill>
                <a:srgbClr val="00000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References (IEEE Format)</a:t>
            </a:r>
            <a:endParaRPr lang="en-IN" sz="4400" b="0" strike="noStrike" spc="-1">
              <a:solidFill>
                <a:srgbClr val="000000"/>
              </a:solidFill>
              <a:latin typeface="Arial"/>
            </a:endParaRPr>
          </a:p>
        </p:txBody>
      </p:sp>
      <p:sp>
        <p:nvSpPr>
          <p:cNvPr id="70" name="Shape 1"/>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71" name="Text 2"/>
          <p:cNvSpPr/>
          <p:nvPr/>
        </p:nvSpPr>
        <p:spPr>
          <a:xfrm>
            <a:off x="457200" y="1280160"/>
            <a:ext cx="8320680" cy="5028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just" defTabSz="914400">
              <a:lnSpc>
                <a:spcPct val="100000"/>
              </a:lnSpc>
            </a:pPr>
            <a:r>
              <a:rPr lang="en-IN" sz="1600" b="0" strike="noStrike" spc="-1" dirty="0">
                <a:solidFill>
                  <a:schemeClr val="dk1"/>
                </a:solidFill>
                <a:latin typeface="Times New Roman"/>
              </a:rPr>
              <a:t>[1] OWASP Foundation, </a:t>
            </a:r>
            <a:r>
              <a:rPr lang="en-IN" sz="1600" b="0" i="1" strike="noStrike" spc="-1" dirty="0">
                <a:solidFill>
                  <a:schemeClr val="dk1"/>
                </a:solidFill>
                <a:latin typeface="Times New Roman"/>
              </a:rPr>
              <a:t>“OWASP Top 10 for LLM Applications 2025,”</a:t>
            </a:r>
            <a:r>
              <a:rPr lang="en-IN" sz="1600" b="0" strike="noStrike" spc="-1" dirty="0">
                <a:solidFill>
                  <a:schemeClr val="dk1"/>
                </a:solidFill>
                <a:latin typeface="Times New Roman"/>
              </a:rPr>
              <a:t> OWASP, </a:t>
            </a:r>
            <a:r>
              <a:rPr lang="en-IN" sz="1600" b="0" strike="noStrike" spc="-1">
                <a:solidFill>
                  <a:schemeClr val="dk1"/>
                </a:solidFill>
                <a:latin typeface="Times New Roman"/>
              </a:rPr>
              <a:t>2025.</a:t>
            </a:r>
            <a:endParaRPr lang="en-IN" sz="1600" b="0" strike="noStrike" spc="-1" dirty="0">
              <a:solidFill>
                <a:srgbClr val="000000"/>
              </a:solidFill>
              <a:latin typeface="Arial"/>
            </a:endParaRPr>
          </a:p>
          <a:p>
            <a:pPr algn="just" defTabSz="914400">
              <a:lnSpc>
                <a:spcPct val="100000"/>
              </a:lnSpc>
            </a:pPr>
            <a:endParaRPr lang="en-IN" sz="1600" b="0" strike="noStrike" spc="-1" dirty="0">
              <a:solidFill>
                <a:srgbClr val="000000"/>
              </a:solidFill>
              <a:latin typeface="Arial"/>
            </a:endParaRPr>
          </a:p>
          <a:p>
            <a:pPr algn="just" defTabSz="914400">
              <a:lnSpc>
                <a:spcPct val="100000"/>
              </a:lnSpc>
            </a:pPr>
            <a:r>
              <a:rPr lang="en-IN" sz="1600" b="0" strike="noStrike" spc="-1" dirty="0">
                <a:solidFill>
                  <a:schemeClr val="dk1"/>
                </a:solidFill>
                <a:latin typeface="Times New Roman"/>
              </a:rPr>
              <a:t>[2] Y. Liu, Y. Jia, J. Jia, D. Song, and N. Z. Gong, </a:t>
            </a:r>
            <a:r>
              <a:rPr lang="en-IN" sz="1600" b="0" i="1" strike="noStrike" spc="-1" dirty="0">
                <a:solidFill>
                  <a:schemeClr val="dk1"/>
                </a:solidFill>
                <a:latin typeface="Times New Roman"/>
              </a:rPr>
              <a:t>“</a:t>
            </a:r>
            <a:r>
              <a:rPr lang="en-IN" sz="1600" b="0" i="1" strike="noStrike" spc="-1" dirty="0" err="1">
                <a:solidFill>
                  <a:schemeClr val="dk1"/>
                </a:solidFill>
                <a:latin typeface="Times New Roman"/>
              </a:rPr>
              <a:t>DataSentinel</a:t>
            </a:r>
            <a:r>
              <a:rPr lang="en-IN" sz="1600" b="0" i="1" strike="noStrike" spc="-1" dirty="0">
                <a:solidFill>
                  <a:schemeClr val="dk1"/>
                </a:solidFill>
                <a:latin typeface="Times New Roman"/>
              </a:rPr>
              <a:t>: A Game-Theoretic Detection of Prompt Injection Attacks,”</a:t>
            </a:r>
            <a:r>
              <a:rPr lang="en-IN" sz="1600" b="0" strike="noStrike" spc="-1" dirty="0">
                <a:solidFill>
                  <a:schemeClr val="dk1"/>
                </a:solidFill>
                <a:latin typeface="Times New Roman"/>
              </a:rPr>
              <a:t> IEEE Symposium on Security and Privacy (S&amp;P), 2025.</a:t>
            </a:r>
            <a:endParaRPr lang="en-IN" sz="1600" b="0" strike="noStrike" spc="-1" dirty="0">
              <a:solidFill>
                <a:srgbClr val="000000"/>
              </a:solidFill>
              <a:latin typeface="Arial"/>
            </a:endParaRPr>
          </a:p>
          <a:p>
            <a:pPr algn="just" defTabSz="914400">
              <a:lnSpc>
                <a:spcPct val="100000"/>
              </a:lnSpc>
            </a:pPr>
            <a:endParaRPr lang="en-IN" sz="1600" b="0" strike="noStrike" spc="-1" dirty="0">
              <a:solidFill>
                <a:srgbClr val="000000"/>
              </a:solidFill>
              <a:latin typeface="Arial"/>
            </a:endParaRPr>
          </a:p>
          <a:p>
            <a:pPr algn="just" defTabSz="914400">
              <a:lnSpc>
                <a:spcPct val="100000"/>
              </a:lnSpc>
            </a:pPr>
            <a:r>
              <a:rPr lang="en-IN" sz="1600" b="0" strike="noStrike" spc="-1" dirty="0">
                <a:solidFill>
                  <a:schemeClr val="dk1"/>
                </a:solidFill>
                <a:latin typeface="Times New Roman"/>
              </a:rPr>
              <a:t>[3] H. Wang, C. M. Poskitt, and J. Sun, </a:t>
            </a:r>
            <a:r>
              <a:rPr lang="en-IN" sz="1600" b="0" i="1" strike="noStrike" spc="-1" dirty="0">
                <a:solidFill>
                  <a:schemeClr val="dk1"/>
                </a:solidFill>
                <a:latin typeface="Times New Roman"/>
              </a:rPr>
              <a:t>“</a:t>
            </a:r>
            <a:r>
              <a:rPr lang="en-IN" sz="1600" b="0" i="1" strike="noStrike" spc="-1" dirty="0" err="1">
                <a:solidFill>
                  <a:schemeClr val="dk1"/>
                </a:solidFill>
                <a:latin typeface="Times New Roman"/>
              </a:rPr>
              <a:t>AgentSpec</a:t>
            </a:r>
            <a:r>
              <a:rPr lang="en-IN" sz="1600" b="0" i="1" strike="noStrike" spc="-1" dirty="0">
                <a:solidFill>
                  <a:schemeClr val="dk1"/>
                </a:solidFill>
                <a:latin typeface="Times New Roman"/>
              </a:rPr>
              <a:t>: Customizable Runtime Enforcement for Safe and Reliable LLM Agents,”</a:t>
            </a:r>
            <a:r>
              <a:rPr lang="en-IN" sz="1600" b="0" strike="noStrike" spc="-1" dirty="0">
                <a:solidFill>
                  <a:schemeClr val="dk1"/>
                </a:solidFill>
                <a:latin typeface="Times New Roman"/>
              </a:rPr>
              <a:t> arXiv:2503.18666, 2025.</a:t>
            </a:r>
            <a:endParaRPr lang="en-IN" sz="1600" b="0" strike="noStrike" spc="-1" dirty="0">
              <a:solidFill>
                <a:srgbClr val="000000"/>
              </a:solidFill>
              <a:latin typeface="Arial"/>
            </a:endParaRPr>
          </a:p>
          <a:p>
            <a:pPr algn="just" defTabSz="914400">
              <a:lnSpc>
                <a:spcPct val="100000"/>
              </a:lnSpc>
            </a:pPr>
            <a:endParaRPr lang="en-IN" sz="1600" b="0" strike="noStrike" spc="-1" dirty="0">
              <a:solidFill>
                <a:srgbClr val="000000"/>
              </a:solidFill>
              <a:latin typeface="Arial"/>
            </a:endParaRPr>
          </a:p>
          <a:p>
            <a:pPr algn="just" defTabSz="914400">
              <a:lnSpc>
                <a:spcPct val="100000"/>
              </a:lnSpc>
            </a:pPr>
            <a:r>
              <a:rPr lang="en-IN" sz="1600" b="0" strike="noStrike" spc="-1" dirty="0">
                <a:solidFill>
                  <a:schemeClr val="dk1"/>
                </a:solidFill>
                <a:latin typeface="Times New Roman"/>
              </a:rPr>
              <a:t>[4] S. Yao, J. Zhao, D. Yu, N. Du, I. Shafran, K. Narasimhan, and Y. Cao, </a:t>
            </a:r>
            <a:r>
              <a:rPr lang="en-IN" sz="1600" b="0" i="1" strike="noStrike" spc="-1" dirty="0">
                <a:solidFill>
                  <a:schemeClr val="dk1"/>
                </a:solidFill>
                <a:latin typeface="Times New Roman"/>
              </a:rPr>
              <a:t>“</a:t>
            </a:r>
            <a:r>
              <a:rPr lang="en-IN" sz="1600" b="0" i="1" strike="noStrike" spc="-1" dirty="0" err="1">
                <a:solidFill>
                  <a:schemeClr val="dk1"/>
                </a:solidFill>
                <a:latin typeface="Times New Roman"/>
              </a:rPr>
              <a:t>ReAct</a:t>
            </a:r>
            <a:r>
              <a:rPr lang="en-IN" sz="1600" b="0" i="1" strike="noStrike" spc="-1" dirty="0">
                <a:solidFill>
                  <a:schemeClr val="dk1"/>
                </a:solidFill>
                <a:latin typeface="Times New Roman"/>
              </a:rPr>
              <a:t>: Synergizing Reasoning and Acting in Language Models,”</a:t>
            </a:r>
            <a:r>
              <a:rPr lang="en-IN" sz="1600" b="0" strike="noStrike" spc="-1" dirty="0">
                <a:solidFill>
                  <a:schemeClr val="dk1"/>
                </a:solidFill>
                <a:latin typeface="Times New Roman"/>
              </a:rPr>
              <a:t> International Conference on Learning Representations (ICLR), 2023.</a:t>
            </a:r>
          </a:p>
          <a:p>
            <a:pPr algn="just" defTabSz="914400">
              <a:lnSpc>
                <a:spcPct val="100000"/>
              </a:lnSpc>
            </a:pPr>
            <a:endParaRPr lang="en-IN" sz="1600" spc="-1" dirty="0">
              <a:solidFill>
                <a:schemeClr val="dk1"/>
              </a:solidFill>
              <a:latin typeface="Times New Roman"/>
            </a:endParaRPr>
          </a:p>
          <a:p>
            <a:pPr algn="just"/>
            <a:r>
              <a:rPr lang="en-IN" sz="1600" b="0" strike="noStrike" spc="-1" dirty="0">
                <a:solidFill>
                  <a:schemeClr val="dk1"/>
                </a:solidFill>
                <a:latin typeface="Times New Roman"/>
              </a:rPr>
              <a:t>[5] OpenAI, “GPT-4 Technical Report,” </a:t>
            </a:r>
            <a:r>
              <a:rPr lang="en-IN" sz="1600" b="0" strike="noStrike" spc="-1" dirty="0" err="1">
                <a:solidFill>
                  <a:schemeClr val="dk1"/>
                </a:solidFill>
                <a:latin typeface="Times New Roman"/>
              </a:rPr>
              <a:t>arXiv</a:t>
            </a:r>
            <a:r>
              <a:rPr lang="en-IN" sz="1600" b="0" strike="noStrike" spc="-1" dirty="0">
                <a:solidFill>
                  <a:schemeClr val="dk1"/>
                </a:solidFill>
                <a:latin typeface="Times New Roman"/>
              </a:rPr>
              <a:t> preprint arXiv:2303.08774, Mar. 2023.</a:t>
            </a:r>
            <a:endParaRPr lang="en-IN" sz="1600" b="0" strike="noStrike" spc="-1" dirty="0">
              <a:solidFill>
                <a:srgbClr val="000000"/>
              </a:solidFill>
              <a:latin typeface="Arial"/>
            </a:endParaRPr>
          </a:p>
        </p:txBody>
      </p:sp>
      <p:sp>
        <p:nvSpPr>
          <p:cNvPr id="72" name="Text 3"/>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595959"/>
                </a:solidFill>
                <a:latin typeface="Times New Roman"/>
                <a:ea typeface="Times New Roman"/>
              </a:rPr>
              <a:t>[xiv]</a:t>
            </a:r>
            <a:endParaRPr lang="en-IN" sz="1100" b="0" strike="noStrike" spc="-1">
              <a:solidFill>
                <a:srgbClr val="000000"/>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 name="Text 1"/>
          <p:cNvSpPr/>
          <p:nvPr/>
        </p:nvSpPr>
        <p:spPr>
          <a:xfrm>
            <a:off x="0" y="2834640"/>
            <a:ext cx="91436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Thank You</a:t>
            </a:r>
            <a:endParaRPr lang="en-IN" sz="4400" b="0" strike="noStrike" spc="-1">
              <a:solidFill>
                <a:srgbClr val="000000"/>
              </a:solidFill>
              <a:latin typeface="Arial"/>
            </a:endParaRPr>
          </a:p>
        </p:txBody>
      </p:sp>
      <p:sp>
        <p:nvSpPr>
          <p:cNvPr id="74" name="Text 2"/>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595959"/>
                </a:solidFill>
                <a:latin typeface="Times New Roman"/>
                <a:ea typeface="Times New Roman"/>
              </a:rPr>
              <a:t>[xv]</a:t>
            </a:r>
            <a:endParaRPr lang="en-IN" sz="1100" b="0" strike="noStrike" spc="-1">
              <a:solidFill>
                <a:srgbClr val="000000"/>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41</TotalTime>
  <Words>1232</Words>
  <Application>Microsoft Office PowerPoint</Application>
  <PresentationFormat>On-screen Show (4:3)</PresentationFormat>
  <Paragraphs>127</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OpenSymbol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ALOKIT SHARMA</dc:creator>
  <cp:keywords/>
  <dc:description>generated using python-pptx</dc:description>
  <cp:lastModifiedBy>Aditya Sharma</cp:lastModifiedBy>
  <cp:revision>6</cp:revision>
  <dcterms:created xsi:type="dcterms:W3CDTF">2013-01-27T09:14:16Z</dcterms:created>
  <dcterms:modified xsi:type="dcterms:W3CDTF">2026-09-12T05:04:53Z</dcterms:modified>
  <cp:category/>
</cp:coreProperties>
</file>